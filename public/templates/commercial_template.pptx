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65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59643"/>
            <a:ext cx="5943600" cy="329914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kern="0" spc="-24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Детализация </a:t>
            </a:r>
            <a:r>
              <a:rPr lang="en-US" sz="2400" b="1" kern="0" spc="-24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71742" y="342900"/>
            <a:ext cx="1096008" cy="186184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Тимирязев центр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795878" y="536228"/>
            <a:ext cx="9099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825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апреля 2026 г.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476250" y="841958"/>
            <a:ext cx="4043362" cy="3277604"/>
          </a:xfrm>
          <a:prstGeom prst="roundRect">
            <a:avLst>
              <a:gd name="adj" fmla="val 2615"/>
            </a:avLst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B1F3A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8650" y="965783"/>
            <a:ext cx="385072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-4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8650" y="1323194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" y="1194383"/>
            <a:ext cx="1618109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НАИМЕНОВАНИЕ</a:t>
            </a:r>
            <a:endParaRPr lang="en-US" sz="488" dirty="0"/>
          </a:p>
        </p:txBody>
      </p:sp>
      <p:sp>
        <p:nvSpPr>
          <p:cNvPr id="9" name="Shape 7"/>
          <p:cNvSpPr/>
          <p:nvPr/>
        </p:nvSpPr>
        <p:spPr>
          <a:xfrm>
            <a:off x="2273610" y="1323194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0" name="Text 8"/>
          <p:cNvSpPr/>
          <p:nvPr/>
        </p:nvSpPr>
        <p:spPr>
          <a:xfrm>
            <a:off x="2273610" y="1194383"/>
            <a:ext cx="320762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КОЛ.</a:t>
            </a:r>
            <a:endParaRPr lang="en-US" sz="488" dirty="0"/>
          </a:p>
        </p:txBody>
      </p:sp>
      <p:sp>
        <p:nvSpPr>
          <p:cNvPr id="11" name="Shape 9"/>
          <p:cNvSpPr/>
          <p:nvPr/>
        </p:nvSpPr>
        <p:spPr>
          <a:xfrm>
            <a:off x="2632472" y="1323194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2" name="Text 10"/>
          <p:cNvSpPr/>
          <p:nvPr/>
        </p:nvSpPr>
        <p:spPr>
          <a:xfrm>
            <a:off x="2632472" y="1194383"/>
            <a:ext cx="554831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488" dirty="0"/>
          </a:p>
        </p:txBody>
      </p:sp>
      <p:sp>
        <p:nvSpPr>
          <p:cNvPr id="13" name="Shape 11"/>
          <p:cNvSpPr/>
          <p:nvPr/>
        </p:nvSpPr>
        <p:spPr>
          <a:xfrm>
            <a:off x="3225403" y="1323194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4" name="Text 12"/>
          <p:cNvSpPr/>
          <p:nvPr/>
        </p:nvSpPr>
        <p:spPr>
          <a:xfrm>
            <a:off x="3225403" y="1194383"/>
            <a:ext cx="416905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СКИДКА</a:t>
            </a:r>
            <a:endParaRPr lang="en-US" sz="488" dirty="0"/>
          </a:p>
        </p:txBody>
      </p:sp>
      <p:sp>
        <p:nvSpPr>
          <p:cNvPr id="15" name="Shape 13"/>
          <p:cNvSpPr/>
          <p:nvPr/>
        </p:nvSpPr>
        <p:spPr>
          <a:xfrm>
            <a:off x="3680408" y="1323194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80408" y="1194383"/>
            <a:ext cx="648704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</a:t>
            </a:r>
            <a:endParaRPr lang="en-US" sz="488" dirty="0"/>
          </a:p>
        </p:txBody>
      </p:sp>
      <p:sp>
        <p:nvSpPr>
          <p:cNvPr id="17" name="Shape 15"/>
          <p:cNvSpPr/>
          <p:nvPr/>
        </p:nvSpPr>
        <p:spPr>
          <a:xfrm>
            <a:off x="628650" y="1542008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8" name="Text 16"/>
          <p:cNvSpPr/>
          <p:nvPr/>
        </p:nvSpPr>
        <p:spPr>
          <a:xfrm>
            <a:off x="666750" y="1380344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Настольный КСО, 21,5″</a:t>
            </a:r>
            <a:endParaRPr lang="en-US" sz="638" dirty="0"/>
          </a:p>
        </p:txBody>
      </p:sp>
      <p:sp>
        <p:nvSpPr>
          <p:cNvPr id="19" name="Shape 17"/>
          <p:cNvSpPr/>
          <p:nvPr/>
        </p:nvSpPr>
        <p:spPr>
          <a:xfrm>
            <a:off x="2273610" y="1542008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20" name="Text 18"/>
          <p:cNvSpPr/>
          <p:nvPr/>
        </p:nvSpPr>
        <p:spPr>
          <a:xfrm>
            <a:off x="2273610" y="1380344"/>
            <a:ext cx="32076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21" name="Shape 19"/>
          <p:cNvSpPr/>
          <p:nvPr/>
        </p:nvSpPr>
        <p:spPr>
          <a:xfrm>
            <a:off x="2632472" y="1542008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22" name="Text 20"/>
          <p:cNvSpPr/>
          <p:nvPr/>
        </p:nvSpPr>
        <p:spPr>
          <a:xfrm>
            <a:off x="2632472" y="1380344"/>
            <a:ext cx="55483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106 000</a:t>
            </a:r>
            <a:endParaRPr lang="en-US" sz="582" dirty="0"/>
          </a:p>
        </p:txBody>
      </p:sp>
      <p:sp>
        <p:nvSpPr>
          <p:cNvPr id="23" name="Shape 21"/>
          <p:cNvSpPr/>
          <p:nvPr/>
        </p:nvSpPr>
        <p:spPr>
          <a:xfrm>
            <a:off x="3225403" y="1542008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24" name="Text 22"/>
          <p:cNvSpPr/>
          <p:nvPr/>
        </p:nvSpPr>
        <p:spPr>
          <a:xfrm>
            <a:off x="3225403" y="1380344"/>
            <a:ext cx="416905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582" dirty="0"/>
          </a:p>
        </p:txBody>
      </p:sp>
      <p:sp>
        <p:nvSpPr>
          <p:cNvPr id="25" name="Shape 23"/>
          <p:cNvSpPr/>
          <p:nvPr/>
        </p:nvSpPr>
        <p:spPr>
          <a:xfrm>
            <a:off x="3680408" y="1542008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26" name="Text 24"/>
          <p:cNvSpPr/>
          <p:nvPr/>
        </p:nvSpPr>
        <p:spPr>
          <a:xfrm>
            <a:off x="3680408" y="1380344"/>
            <a:ext cx="648704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450 500</a:t>
            </a:r>
            <a:endParaRPr lang="en-US" sz="582" dirty="0"/>
          </a:p>
        </p:txBody>
      </p:sp>
      <p:sp>
        <p:nvSpPr>
          <p:cNvPr id="27" name="Shape 25"/>
          <p:cNvSpPr/>
          <p:nvPr/>
        </p:nvSpPr>
        <p:spPr>
          <a:xfrm>
            <a:off x="628650" y="1760823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28" name="Text 26"/>
          <p:cNvSpPr/>
          <p:nvPr/>
        </p:nvSpPr>
        <p:spPr>
          <a:xfrm>
            <a:off x="666750" y="1599158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Настольный кронштейн для КСО</a:t>
            </a:r>
            <a:endParaRPr lang="en-US" sz="638" dirty="0"/>
          </a:p>
        </p:txBody>
      </p:sp>
      <p:sp>
        <p:nvSpPr>
          <p:cNvPr id="29" name="Shape 27"/>
          <p:cNvSpPr/>
          <p:nvPr/>
        </p:nvSpPr>
        <p:spPr>
          <a:xfrm>
            <a:off x="2273610" y="1760823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0" name="Text 28"/>
          <p:cNvSpPr/>
          <p:nvPr/>
        </p:nvSpPr>
        <p:spPr>
          <a:xfrm>
            <a:off x="2273610" y="1599158"/>
            <a:ext cx="32076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31" name="Shape 29"/>
          <p:cNvSpPr/>
          <p:nvPr/>
        </p:nvSpPr>
        <p:spPr>
          <a:xfrm>
            <a:off x="2632472" y="1760823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2" name="Text 30"/>
          <p:cNvSpPr/>
          <p:nvPr/>
        </p:nvSpPr>
        <p:spPr>
          <a:xfrm>
            <a:off x="2632472" y="1599158"/>
            <a:ext cx="55483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</a:t>
            </a:r>
            <a:endParaRPr lang="en-US" sz="582" dirty="0"/>
          </a:p>
        </p:txBody>
      </p:sp>
      <p:sp>
        <p:nvSpPr>
          <p:cNvPr id="33" name="Shape 31"/>
          <p:cNvSpPr/>
          <p:nvPr/>
        </p:nvSpPr>
        <p:spPr>
          <a:xfrm>
            <a:off x="3225403" y="1760823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25403" y="1599158"/>
            <a:ext cx="416905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82" dirty="0"/>
          </a:p>
        </p:txBody>
      </p:sp>
      <p:sp>
        <p:nvSpPr>
          <p:cNvPr id="35" name="Shape 33"/>
          <p:cNvSpPr/>
          <p:nvPr/>
        </p:nvSpPr>
        <p:spPr>
          <a:xfrm>
            <a:off x="3680408" y="1760823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6" name="Text 34"/>
          <p:cNvSpPr/>
          <p:nvPr/>
        </p:nvSpPr>
        <p:spPr>
          <a:xfrm>
            <a:off x="3680408" y="1599158"/>
            <a:ext cx="648704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75 000</a:t>
            </a:r>
            <a:endParaRPr lang="en-US" sz="582" dirty="0"/>
          </a:p>
        </p:txBody>
      </p:sp>
      <p:sp>
        <p:nvSpPr>
          <p:cNvPr id="37" name="Shape 35"/>
          <p:cNvSpPr/>
          <p:nvPr/>
        </p:nvSpPr>
        <p:spPr>
          <a:xfrm>
            <a:off x="628650" y="1979638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8" name="Text 36"/>
          <p:cNvSpPr/>
          <p:nvPr/>
        </p:nvSpPr>
        <p:spPr>
          <a:xfrm>
            <a:off x="666750" y="1817973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Адаптер для КСО</a:t>
            </a:r>
            <a:endParaRPr lang="en-US" sz="638" dirty="0"/>
          </a:p>
        </p:txBody>
      </p:sp>
      <p:sp>
        <p:nvSpPr>
          <p:cNvPr id="39" name="Shape 37"/>
          <p:cNvSpPr/>
          <p:nvPr/>
        </p:nvSpPr>
        <p:spPr>
          <a:xfrm>
            <a:off x="2273610" y="1979638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40" name="Text 38"/>
          <p:cNvSpPr/>
          <p:nvPr/>
        </p:nvSpPr>
        <p:spPr>
          <a:xfrm>
            <a:off x="2273610" y="1817973"/>
            <a:ext cx="32076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41" name="Shape 39"/>
          <p:cNvSpPr/>
          <p:nvPr/>
        </p:nvSpPr>
        <p:spPr>
          <a:xfrm>
            <a:off x="2632472" y="1979638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42" name="Text 40"/>
          <p:cNvSpPr/>
          <p:nvPr/>
        </p:nvSpPr>
        <p:spPr>
          <a:xfrm>
            <a:off x="2632472" y="1817973"/>
            <a:ext cx="55483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582" dirty="0"/>
          </a:p>
        </p:txBody>
      </p:sp>
      <p:sp>
        <p:nvSpPr>
          <p:cNvPr id="43" name="Shape 41"/>
          <p:cNvSpPr/>
          <p:nvPr/>
        </p:nvSpPr>
        <p:spPr>
          <a:xfrm>
            <a:off x="3225403" y="1979638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25403" y="1817973"/>
            <a:ext cx="416905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82" dirty="0"/>
          </a:p>
        </p:txBody>
      </p:sp>
      <p:sp>
        <p:nvSpPr>
          <p:cNvPr id="45" name="Shape 43"/>
          <p:cNvSpPr/>
          <p:nvPr/>
        </p:nvSpPr>
        <p:spPr>
          <a:xfrm>
            <a:off x="3680408" y="1979638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46" name="Text 44"/>
          <p:cNvSpPr/>
          <p:nvPr/>
        </p:nvSpPr>
        <p:spPr>
          <a:xfrm>
            <a:off x="3680408" y="1817973"/>
            <a:ext cx="648704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</a:t>
            </a:r>
            <a:endParaRPr lang="en-US" sz="582" dirty="0"/>
          </a:p>
        </p:txBody>
      </p:sp>
      <p:sp>
        <p:nvSpPr>
          <p:cNvPr id="47" name="Shape 45"/>
          <p:cNvSpPr/>
          <p:nvPr/>
        </p:nvSpPr>
        <p:spPr>
          <a:xfrm>
            <a:off x="628650" y="2307729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48" name="Text 46"/>
          <p:cNvSpPr/>
          <p:nvPr/>
        </p:nvSpPr>
        <p:spPr>
          <a:xfrm>
            <a:off x="666750" y="2036788"/>
            <a:ext cx="1618109" cy="237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Крепление для фискального регистратора</a:t>
            </a:r>
            <a:endParaRPr lang="en-US" sz="638" dirty="0"/>
          </a:p>
        </p:txBody>
      </p:sp>
      <p:sp>
        <p:nvSpPr>
          <p:cNvPr id="49" name="Shape 47"/>
          <p:cNvSpPr/>
          <p:nvPr/>
        </p:nvSpPr>
        <p:spPr>
          <a:xfrm>
            <a:off x="2273610" y="2307729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50" name="Text 48"/>
          <p:cNvSpPr/>
          <p:nvPr/>
        </p:nvSpPr>
        <p:spPr>
          <a:xfrm>
            <a:off x="2273610" y="2036788"/>
            <a:ext cx="320762" cy="237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51" name="Shape 49"/>
          <p:cNvSpPr/>
          <p:nvPr/>
        </p:nvSpPr>
        <p:spPr>
          <a:xfrm>
            <a:off x="2632472" y="2307729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52" name="Text 50"/>
          <p:cNvSpPr/>
          <p:nvPr/>
        </p:nvSpPr>
        <p:spPr>
          <a:xfrm>
            <a:off x="2632472" y="2036788"/>
            <a:ext cx="554831" cy="237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6 900</a:t>
            </a:r>
            <a:endParaRPr lang="en-US" sz="582" dirty="0"/>
          </a:p>
        </p:txBody>
      </p:sp>
      <p:sp>
        <p:nvSpPr>
          <p:cNvPr id="53" name="Shape 51"/>
          <p:cNvSpPr/>
          <p:nvPr/>
        </p:nvSpPr>
        <p:spPr>
          <a:xfrm>
            <a:off x="3225403" y="2307729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54" name="Text 52"/>
          <p:cNvSpPr/>
          <p:nvPr/>
        </p:nvSpPr>
        <p:spPr>
          <a:xfrm>
            <a:off x="3225403" y="2036788"/>
            <a:ext cx="416905" cy="237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82" dirty="0"/>
          </a:p>
        </p:txBody>
      </p:sp>
      <p:sp>
        <p:nvSpPr>
          <p:cNvPr id="55" name="Shape 53"/>
          <p:cNvSpPr/>
          <p:nvPr/>
        </p:nvSpPr>
        <p:spPr>
          <a:xfrm>
            <a:off x="3680408" y="2307729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56" name="Text 54"/>
          <p:cNvSpPr/>
          <p:nvPr/>
        </p:nvSpPr>
        <p:spPr>
          <a:xfrm>
            <a:off x="3680408" y="2036788"/>
            <a:ext cx="648704" cy="237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34 500</a:t>
            </a:r>
            <a:endParaRPr lang="en-US" sz="582" dirty="0"/>
          </a:p>
        </p:txBody>
      </p:sp>
      <p:sp>
        <p:nvSpPr>
          <p:cNvPr id="57" name="Shape 55"/>
          <p:cNvSpPr/>
          <p:nvPr/>
        </p:nvSpPr>
        <p:spPr>
          <a:xfrm>
            <a:off x="628650" y="2526544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58" name="Text 56"/>
          <p:cNvSpPr/>
          <p:nvPr/>
        </p:nvSpPr>
        <p:spPr>
          <a:xfrm>
            <a:off x="666750" y="2364879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Фискальный регистратор без ФН</a:t>
            </a:r>
            <a:endParaRPr lang="en-US" sz="638" dirty="0"/>
          </a:p>
        </p:txBody>
      </p:sp>
      <p:sp>
        <p:nvSpPr>
          <p:cNvPr id="59" name="Shape 57"/>
          <p:cNvSpPr/>
          <p:nvPr/>
        </p:nvSpPr>
        <p:spPr>
          <a:xfrm>
            <a:off x="2273610" y="2526544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60" name="Text 58"/>
          <p:cNvSpPr/>
          <p:nvPr/>
        </p:nvSpPr>
        <p:spPr>
          <a:xfrm>
            <a:off x="2273610" y="2364879"/>
            <a:ext cx="32076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61" name="Shape 59"/>
          <p:cNvSpPr/>
          <p:nvPr/>
        </p:nvSpPr>
        <p:spPr>
          <a:xfrm>
            <a:off x="2632472" y="2526544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62" name="Text 60"/>
          <p:cNvSpPr/>
          <p:nvPr/>
        </p:nvSpPr>
        <p:spPr>
          <a:xfrm>
            <a:off x="2632472" y="2364879"/>
            <a:ext cx="55483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</a:t>
            </a:r>
            <a:endParaRPr lang="en-US" sz="582" dirty="0"/>
          </a:p>
        </p:txBody>
      </p:sp>
      <p:sp>
        <p:nvSpPr>
          <p:cNvPr id="63" name="Shape 61"/>
          <p:cNvSpPr/>
          <p:nvPr/>
        </p:nvSpPr>
        <p:spPr>
          <a:xfrm>
            <a:off x="3225403" y="2526544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64" name="Text 62"/>
          <p:cNvSpPr/>
          <p:nvPr/>
        </p:nvSpPr>
        <p:spPr>
          <a:xfrm>
            <a:off x="3225403" y="2364879"/>
            <a:ext cx="416905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-10%</a:t>
            </a:r>
            <a:endParaRPr lang="en-US" sz="582" dirty="0"/>
          </a:p>
        </p:txBody>
      </p:sp>
      <p:sp>
        <p:nvSpPr>
          <p:cNvPr id="65" name="Shape 63"/>
          <p:cNvSpPr/>
          <p:nvPr/>
        </p:nvSpPr>
        <p:spPr>
          <a:xfrm>
            <a:off x="3680408" y="2526544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66" name="Text 64"/>
          <p:cNvSpPr/>
          <p:nvPr/>
        </p:nvSpPr>
        <p:spPr>
          <a:xfrm>
            <a:off x="3680408" y="2364879"/>
            <a:ext cx="648704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180 000</a:t>
            </a:r>
            <a:endParaRPr lang="en-US" sz="582" dirty="0"/>
          </a:p>
        </p:txBody>
      </p:sp>
      <p:sp>
        <p:nvSpPr>
          <p:cNvPr id="67" name="Shape 65"/>
          <p:cNvSpPr/>
          <p:nvPr/>
        </p:nvSpPr>
        <p:spPr>
          <a:xfrm>
            <a:off x="628650" y="2745358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68" name="Text 66"/>
          <p:cNvSpPr/>
          <p:nvPr/>
        </p:nvSpPr>
        <p:spPr>
          <a:xfrm>
            <a:off x="666750" y="2583694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Мини-ПК, Intel Core i3, 8 ГБ ОЗУ</a:t>
            </a:r>
            <a:endParaRPr lang="en-US" sz="638" dirty="0"/>
          </a:p>
        </p:txBody>
      </p:sp>
      <p:sp>
        <p:nvSpPr>
          <p:cNvPr id="69" name="Shape 67"/>
          <p:cNvSpPr/>
          <p:nvPr/>
        </p:nvSpPr>
        <p:spPr>
          <a:xfrm>
            <a:off x="2273610" y="2745358"/>
            <a:ext cx="35886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70" name="Text 68"/>
          <p:cNvSpPr/>
          <p:nvPr/>
        </p:nvSpPr>
        <p:spPr>
          <a:xfrm>
            <a:off x="2273610" y="2583694"/>
            <a:ext cx="32076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2" dirty="0"/>
          </a:p>
        </p:txBody>
      </p:sp>
      <p:sp>
        <p:nvSpPr>
          <p:cNvPr id="71" name="Shape 69"/>
          <p:cNvSpPr/>
          <p:nvPr/>
        </p:nvSpPr>
        <p:spPr>
          <a:xfrm>
            <a:off x="2632472" y="2745358"/>
            <a:ext cx="59293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72" name="Text 70"/>
          <p:cNvSpPr/>
          <p:nvPr/>
        </p:nvSpPr>
        <p:spPr>
          <a:xfrm>
            <a:off x="2632472" y="2583694"/>
            <a:ext cx="55483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27 000</a:t>
            </a:r>
            <a:endParaRPr lang="en-US" sz="582" dirty="0"/>
          </a:p>
        </p:txBody>
      </p:sp>
      <p:sp>
        <p:nvSpPr>
          <p:cNvPr id="73" name="Shape 71"/>
          <p:cNvSpPr/>
          <p:nvPr/>
        </p:nvSpPr>
        <p:spPr>
          <a:xfrm>
            <a:off x="3225403" y="2745358"/>
            <a:ext cx="455005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74" name="Text 72"/>
          <p:cNvSpPr/>
          <p:nvPr/>
        </p:nvSpPr>
        <p:spPr>
          <a:xfrm>
            <a:off x="3225403" y="2583694"/>
            <a:ext cx="416905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582" dirty="0"/>
          </a:p>
        </p:txBody>
      </p:sp>
      <p:sp>
        <p:nvSpPr>
          <p:cNvPr id="75" name="Shape 73"/>
          <p:cNvSpPr/>
          <p:nvPr/>
        </p:nvSpPr>
        <p:spPr>
          <a:xfrm>
            <a:off x="3680408" y="2745358"/>
            <a:ext cx="686804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76" name="Text 74"/>
          <p:cNvSpPr/>
          <p:nvPr/>
        </p:nvSpPr>
        <p:spPr>
          <a:xfrm>
            <a:off x="3680408" y="2583694"/>
            <a:ext cx="648704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21 600</a:t>
            </a:r>
            <a:endParaRPr lang="en-US" sz="582" dirty="0"/>
          </a:p>
        </p:txBody>
      </p:sp>
      <p:sp>
        <p:nvSpPr>
          <p:cNvPr id="77" name="Text 75"/>
          <p:cNvSpPr/>
          <p:nvPr/>
        </p:nvSpPr>
        <p:spPr>
          <a:xfrm>
            <a:off x="666750" y="2802508"/>
            <a:ext cx="1618109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 4K, 55″ + настенный кронштейн</a:t>
            </a:r>
            <a:endParaRPr lang="en-US" sz="638" dirty="0"/>
          </a:p>
        </p:txBody>
      </p:sp>
      <p:sp>
        <p:nvSpPr>
          <p:cNvPr id="78" name="Text 76"/>
          <p:cNvSpPr/>
          <p:nvPr/>
        </p:nvSpPr>
        <p:spPr>
          <a:xfrm>
            <a:off x="2273610" y="2802508"/>
            <a:ext cx="320762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2" dirty="0"/>
          </a:p>
        </p:txBody>
      </p:sp>
      <p:sp>
        <p:nvSpPr>
          <p:cNvPr id="79" name="Text 77"/>
          <p:cNvSpPr/>
          <p:nvPr/>
        </p:nvSpPr>
        <p:spPr>
          <a:xfrm>
            <a:off x="2632472" y="2802508"/>
            <a:ext cx="554831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62 000</a:t>
            </a:r>
            <a:endParaRPr lang="en-US" sz="582" dirty="0"/>
          </a:p>
        </p:txBody>
      </p:sp>
      <p:sp>
        <p:nvSpPr>
          <p:cNvPr id="80" name="Text 78"/>
          <p:cNvSpPr/>
          <p:nvPr/>
        </p:nvSpPr>
        <p:spPr>
          <a:xfrm>
            <a:off x="3225403" y="2802508"/>
            <a:ext cx="416905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-10%</a:t>
            </a:r>
            <a:endParaRPr lang="en-US" sz="582" dirty="0"/>
          </a:p>
        </p:txBody>
      </p:sp>
      <p:sp>
        <p:nvSpPr>
          <p:cNvPr id="81" name="Text 79"/>
          <p:cNvSpPr/>
          <p:nvPr/>
        </p:nvSpPr>
        <p:spPr>
          <a:xfrm>
            <a:off x="3680408" y="2802508"/>
            <a:ext cx="648704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55 800</a:t>
            </a:r>
            <a:endParaRPr lang="en-US" sz="582" dirty="0"/>
          </a:p>
        </p:txBody>
      </p:sp>
      <p:sp>
        <p:nvSpPr>
          <p:cNvPr id="82" name="Shape 80"/>
          <p:cNvSpPr/>
          <p:nvPr/>
        </p:nvSpPr>
        <p:spPr>
          <a:xfrm>
            <a:off x="628650" y="3142506"/>
            <a:ext cx="3738562" cy="952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3" name="Text 81"/>
          <p:cNvSpPr/>
          <p:nvPr/>
        </p:nvSpPr>
        <p:spPr>
          <a:xfrm>
            <a:off x="628650" y="3252044"/>
            <a:ext cx="500000" cy="10953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buNone/>
            </a:pPr>
            <a:r>
              <a:rPr lang="en-US" sz="600" b="1" kern="0" spc="12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801405" y="3218706"/>
            <a:ext cx="603908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867 400 ₽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4624388" y="841958"/>
            <a:ext cx="4043362" cy="1477008"/>
          </a:xfrm>
          <a:prstGeom prst="roundRect">
            <a:avLst>
              <a:gd name="adj" fmla="val 5804"/>
            </a:avLst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B1F3A">
                <a:alpha val="4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776788" y="965783"/>
            <a:ext cx="385072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-4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Лицензии и подписки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76788" y="1323194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88" name="Text 86"/>
          <p:cNvSpPr/>
          <p:nvPr/>
        </p:nvSpPr>
        <p:spPr>
          <a:xfrm>
            <a:off x="4814888" y="1194383"/>
            <a:ext cx="1618109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НАИМЕНОВАНИЕ</a:t>
            </a:r>
            <a:endParaRPr lang="en-US" sz="488" dirty="0"/>
          </a:p>
        </p:txBody>
      </p:sp>
      <p:sp>
        <p:nvSpPr>
          <p:cNvPr id="89" name="Shape 87"/>
          <p:cNvSpPr/>
          <p:nvPr/>
        </p:nvSpPr>
        <p:spPr>
          <a:xfrm>
            <a:off x="6421748" y="1323194"/>
            <a:ext cx="35912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90" name="Text 88"/>
          <p:cNvSpPr/>
          <p:nvPr/>
        </p:nvSpPr>
        <p:spPr>
          <a:xfrm>
            <a:off x="6421748" y="1194383"/>
            <a:ext cx="321022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КОЛ.</a:t>
            </a:r>
            <a:endParaRPr lang="en-US" sz="488" dirty="0"/>
          </a:p>
        </p:txBody>
      </p:sp>
      <p:sp>
        <p:nvSpPr>
          <p:cNvPr id="91" name="Shape 89"/>
          <p:cNvSpPr/>
          <p:nvPr/>
        </p:nvSpPr>
        <p:spPr>
          <a:xfrm>
            <a:off x="6780870" y="1323194"/>
            <a:ext cx="592596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92" name="Text 90"/>
          <p:cNvSpPr/>
          <p:nvPr/>
        </p:nvSpPr>
        <p:spPr>
          <a:xfrm>
            <a:off x="6780870" y="1194383"/>
            <a:ext cx="554496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488" dirty="0"/>
          </a:p>
        </p:txBody>
      </p:sp>
      <p:sp>
        <p:nvSpPr>
          <p:cNvPr id="93" name="Shape 91"/>
          <p:cNvSpPr/>
          <p:nvPr/>
        </p:nvSpPr>
        <p:spPr>
          <a:xfrm>
            <a:off x="7373466" y="1323194"/>
            <a:ext cx="455191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94" name="Text 92"/>
          <p:cNvSpPr/>
          <p:nvPr/>
        </p:nvSpPr>
        <p:spPr>
          <a:xfrm>
            <a:off x="7373466" y="1194383"/>
            <a:ext cx="417091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СКИДКА</a:t>
            </a:r>
            <a:endParaRPr lang="en-US" sz="488" dirty="0"/>
          </a:p>
        </p:txBody>
      </p:sp>
      <p:sp>
        <p:nvSpPr>
          <p:cNvPr id="95" name="Shape 93"/>
          <p:cNvSpPr/>
          <p:nvPr/>
        </p:nvSpPr>
        <p:spPr>
          <a:xfrm>
            <a:off x="7828657" y="1323194"/>
            <a:ext cx="686693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96" name="Text 94"/>
          <p:cNvSpPr/>
          <p:nvPr/>
        </p:nvSpPr>
        <p:spPr>
          <a:xfrm>
            <a:off x="7828657" y="1194383"/>
            <a:ext cx="648593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</a:t>
            </a:r>
            <a:endParaRPr lang="en-US" sz="488" dirty="0"/>
          </a:p>
        </p:txBody>
      </p:sp>
      <p:sp>
        <p:nvSpPr>
          <p:cNvPr id="97" name="Text 95"/>
          <p:cNvSpPr/>
          <p:nvPr/>
        </p:nvSpPr>
        <p:spPr>
          <a:xfrm>
            <a:off x="4814888" y="1380344"/>
            <a:ext cx="1618109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 Kiosk × 5 устр. (1 месяц)</a:t>
            </a:r>
            <a:endParaRPr lang="en-US" sz="638" dirty="0"/>
          </a:p>
        </p:txBody>
      </p:sp>
      <p:sp>
        <p:nvSpPr>
          <p:cNvPr id="98" name="Text 96"/>
          <p:cNvSpPr/>
          <p:nvPr/>
        </p:nvSpPr>
        <p:spPr>
          <a:xfrm>
            <a:off x="6421748" y="1380344"/>
            <a:ext cx="321022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82" dirty="0"/>
          </a:p>
        </p:txBody>
      </p:sp>
      <p:sp>
        <p:nvSpPr>
          <p:cNvPr id="99" name="Text 97"/>
          <p:cNvSpPr/>
          <p:nvPr/>
        </p:nvSpPr>
        <p:spPr>
          <a:xfrm>
            <a:off x="6780870" y="1380344"/>
            <a:ext cx="554496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582" dirty="0"/>
          </a:p>
        </p:txBody>
      </p:sp>
      <p:sp>
        <p:nvSpPr>
          <p:cNvPr id="100" name="Text 98"/>
          <p:cNvSpPr/>
          <p:nvPr/>
        </p:nvSpPr>
        <p:spPr>
          <a:xfrm>
            <a:off x="7373466" y="1380344"/>
            <a:ext cx="417091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B8B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82" dirty="0"/>
          </a:p>
        </p:txBody>
      </p:sp>
      <p:sp>
        <p:nvSpPr>
          <p:cNvPr id="101" name="Text 99"/>
          <p:cNvSpPr/>
          <p:nvPr/>
        </p:nvSpPr>
        <p:spPr>
          <a:xfrm>
            <a:off x="7828657" y="1380344"/>
            <a:ext cx="648593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</a:t>
            </a:r>
            <a:endParaRPr lang="en-US" sz="582" dirty="0"/>
          </a:p>
        </p:txBody>
      </p:sp>
      <p:sp>
        <p:nvSpPr>
          <p:cNvPr id="102" name="Shape 100"/>
          <p:cNvSpPr/>
          <p:nvPr/>
        </p:nvSpPr>
        <p:spPr>
          <a:xfrm>
            <a:off x="4776788" y="1611064"/>
            <a:ext cx="3738562" cy="952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3" name="Text 101"/>
          <p:cNvSpPr/>
          <p:nvPr/>
        </p:nvSpPr>
        <p:spPr>
          <a:xfrm>
            <a:off x="4776788" y="1720602"/>
            <a:ext cx="500000" cy="10953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buNone/>
            </a:pPr>
            <a:r>
              <a:rPr lang="en-US" sz="600" b="1" kern="0" spc="12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8012422" y="1687264"/>
            <a:ext cx="541028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₽</a:t>
            </a:r>
            <a:endParaRPr lang="en-US" sz="825" dirty="0"/>
          </a:p>
        </p:txBody>
      </p:sp>
      <p:sp>
        <p:nvSpPr>
          <p:cNvPr id="105" name="Shape 103"/>
          <p:cNvSpPr/>
          <p:nvPr/>
        </p:nvSpPr>
        <p:spPr>
          <a:xfrm>
            <a:off x="4624388" y="2423740"/>
            <a:ext cx="4043362" cy="1695822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/>
          <a:effectLst>
            <a:outerShdw blurRad="101600" dist="9525" dir="5400000" algn="bl" rotWithShape="0">
              <a:srgbClr val="0B1F3A">
                <a:alpha val="4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4776788" y="2547566"/>
            <a:ext cx="385072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-4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776788" y="2904976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08" name="Text 106"/>
          <p:cNvSpPr/>
          <p:nvPr/>
        </p:nvSpPr>
        <p:spPr>
          <a:xfrm>
            <a:off x="4814888" y="2776166"/>
            <a:ext cx="1618109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НАИМЕНОВАНИЕ</a:t>
            </a:r>
            <a:endParaRPr lang="en-US" sz="488" dirty="0"/>
          </a:p>
        </p:txBody>
      </p:sp>
      <p:sp>
        <p:nvSpPr>
          <p:cNvPr id="109" name="Shape 107"/>
          <p:cNvSpPr/>
          <p:nvPr/>
        </p:nvSpPr>
        <p:spPr>
          <a:xfrm>
            <a:off x="6421748" y="2904976"/>
            <a:ext cx="35912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10" name="Text 108"/>
          <p:cNvSpPr/>
          <p:nvPr/>
        </p:nvSpPr>
        <p:spPr>
          <a:xfrm>
            <a:off x="6421748" y="2776166"/>
            <a:ext cx="321022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КОЛ.</a:t>
            </a:r>
            <a:endParaRPr lang="en-US" sz="488" dirty="0"/>
          </a:p>
        </p:txBody>
      </p:sp>
      <p:sp>
        <p:nvSpPr>
          <p:cNvPr id="111" name="Shape 109"/>
          <p:cNvSpPr/>
          <p:nvPr/>
        </p:nvSpPr>
        <p:spPr>
          <a:xfrm>
            <a:off x="6780870" y="2904976"/>
            <a:ext cx="592596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12" name="Text 110"/>
          <p:cNvSpPr/>
          <p:nvPr/>
        </p:nvSpPr>
        <p:spPr>
          <a:xfrm>
            <a:off x="6780870" y="2776166"/>
            <a:ext cx="554496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488" dirty="0"/>
          </a:p>
        </p:txBody>
      </p:sp>
      <p:sp>
        <p:nvSpPr>
          <p:cNvPr id="113" name="Shape 111"/>
          <p:cNvSpPr/>
          <p:nvPr/>
        </p:nvSpPr>
        <p:spPr>
          <a:xfrm>
            <a:off x="7373466" y="2904976"/>
            <a:ext cx="455191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14" name="Text 112"/>
          <p:cNvSpPr/>
          <p:nvPr/>
        </p:nvSpPr>
        <p:spPr>
          <a:xfrm>
            <a:off x="7373466" y="2776166"/>
            <a:ext cx="417091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СКИДКА</a:t>
            </a:r>
            <a:endParaRPr lang="en-US" sz="488" dirty="0"/>
          </a:p>
        </p:txBody>
      </p:sp>
      <p:sp>
        <p:nvSpPr>
          <p:cNvPr id="115" name="Shape 113"/>
          <p:cNvSpPr/>
          <p:nvPr/>
        </p:nvSpPr>
        <p:spPr>
          <a:xfrm>
            <a:off x="7828657" y="2904976"/>
            <a:ext cx="686693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16" name="Text 114"/>
          <p:cNvSpPr/>
          <p:nvPr/>
        </p:nvSpPr>
        <p:spPr>
          <a:xfrm>
            <a:off x="7828657" y="2776166"/>
            <a:ext cx="648593" cy="1002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488" b="1" kern="0" spc="39" dirty="0">
                <a:solidFill>
                  <a:srgbClr val="6A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</a:t>
            </a:r>
            <a:endParaRPr lang="en-US" sz="488" dirty="0"/>
          </a:p>
        </p:txBody>
      </p:sp>
      <p:sp>
        <p:nvSpPr>
          <p:cNvPr id="117" name="Shape 115"/>
          <p:cNvSpPr/>
          <p:nvPr/>
        </p:nvSpPr>
        <p:spPr>
          <a:xfrm>
            <a:off x="4776788" y="3123790"/>
            <a:ext cx="1644960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18" name="Text 116"/>
          <p:cNvSpPr/>
          <p:nvPr/>
        </p:nvSpPr>
        <p:spPr>
          <a:xfrm>
            <a:off x="4814888" y="2962126"/>
            <a:ext cx="1618109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настройка</a:t>
            </a:r>
            <a:endParaRPr lang="en-US" sz="638" dirty="0"/>
          </a:p>
        </p:txBody>
      </p:sp>
      <p:sp>
        <p:nvSpPr>
          <p:cNvPr id="119" name="Shape 117"/>
          <p:cNvSpPr/>
          <p:nvPr/>
        </p:nvSpPr>
        <p:spPr>
          <a:xfrm>
            <a:off x="6421748" y="3123790"/>
            <a:ext cx="359122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21748" y="2962126"/>
            <a:ext cx="321022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82" dirty="0"/>
          </a:p>
        </p:txBody>
      </p:sp>
      <p:sp>
        <p:nvSpPr>
          <p:cNvPr id="121" name="Shape 119"/>
          <p:cNvSpPr/>
          <p:nvPr/>
        </p:nvSpPr>
        <p:spPr>
          <a:xfrm>
            <a:off x="6780870" y="3123790"/>
            <a:ext cx="592596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22" name="Text 120"/>
          <p:cNvSpPr/>
          <p:nvPr/>
        </p:nvSpPr>
        <p:spPr>
          <a:xfrm>
            <a:off x="6780870" y="2962126"/>
            <a:ext cx="554496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60 000</a:t>
            </a:r>
            <a:endParaRPr lang="en-US" sz="582" dirty="0"/>
          </a:p>
        </p:txBody>
      </p:sp>
      <p:sp>
        <p:nvSpPr>
          <p:cNvPr id="123" name="Shape 121"/>
          <p:cNvSpPr/>
          <p:nvPr/>
        </p:nvSpPr>
        <p:spPr>
          <a:xfrm>
            <a:off x="7373466" y="3123790"/>
            <a:ext cx="455191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24" name="Text 122"/>
          <p:cNvSpPr/>
          <p:nvPr/>
        </p:nvSpPr>
        <p:spPr>
          <a:xfrm>
            <a:off x="7373466" y="2962126"/>
            <a:ext cx="417091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582" dirty="0"/>
          </a:p>
        </p:txBody>
      </p:sp>
      <p:sp>
        <p:nvSpPr>
          <p:cNvPr id="125" name="Shape 123"/>
          <p:cNvSpPr/>
          <p:nvPr/>
        </p:nvSpPr>
        <p:spPr>
          <a:xfrm>
            <a:off x="7828657" y="3123790"/>
            <a:ext cx="686693" cy="4762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26" name="Text 124"/>
          <p:cNvSpPr/>
          <p:nvPr/>
        </p:nvSpPr>
        <p:spPr>
          <a:xfrm>
            <a:off x="7828657" y="2962126"/>
            <a:ext cx="648593" cy="12832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</a:t>
            </a:r>
            <a:endParaRPr lang="en-US" sz="582" dirty="0"/>
          </a:p>
        </p:txBody>
      </p:sp>
      <p:sp>
        <p:nvSpPr>
          <p:cNvPr id="127" name="Text 125"/>
          <p:cNvSpPr/>
          <p:nvPr/>
        </p:nvSpPr>
        <p:spPr>
          <a:xfrm>
            <a:off x="4814888" y="3180940"/>
            <a:ext cx="1618109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638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контента (карточки меню)</a:t>
            </a:r>
            <a:endParaRPr lang="en-US" sz="638" dirty="0"/>
          </a:p>
        </p:txBody>
      </p:sp>
      <p:sp>
        <p:nvSpPr>
          <p:cNvPr id="128" name="Text 126"/>
          <p:cNvSpPr/>
          <p:nvPr/>
        </p:nvSpPr>
        <p:spPr>
          <a:xfrm>
            <a:off x="6421748" y="3180940"/>
            <a:ext cx="321022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582" dirty="0"/>
          </a:p>
        </p:txBody>
      </p:sp>
      <p:sp>
        <p:nvSpPr>
          <p:cNvPr id="129" name="Text 127"/>
          <p:cNvSpPr/>
          <p:nvPr/>
        </p:nvSpPr>
        <p:spPr>
          <a:xfrm>
            <a:off x="6780870" y="3180940"/>
            <a:ext cx="554496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kern="0" spc="-6" dirty="0">
                <a:solidFill>
                  <a:srgbClr val="29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1 200</a:t>
            </a:r>
            <a:endParaRPr lang="en-US" sz="582" dirty="0"/>
          </a:p>
        </p:txBody>
      </p:sp>
      <p:sp>
        <p:nvSpPr>
          <p:cNvPr id="130" name="Text 128"/>
          <p:cNvSpPr/>
          <p:nvPr/>
        </p:nvSpPr>
        <p:spPr>
          <a:xfrm>
            <a:off x="7373466" y="3180940"/>
            <a:ext cx="417091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582" dirty="0"/>
          </a:p>
        </p:txBody>
      </p:sp>
      <p:sp>
        <p:nvSpPr>
          <p:cNvPr id="131" name="Text 129"/>
          <p:cNvSpPr/>
          <p:nvPr/>
        </p:nvSpPr>
        <p:spPr>
          <a:xfrm>
            <a:off x="7828657" y="3180940"/>
            <a:ext cx="648593" cy="1307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582" b="1" kern="0" spc="-6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</a:t>
            </a:r>
            <a:endParaRPr lang="en-US" sz="582" dirty="0"/>
          </a:p>
        </p:txBody>
      </p:sp>
      <p:sp>
        <p:nvSpPr>
          <p:cNvPr id="132" name="Shape 130"/>
          <p:cNvSpPr/>
          <p:nvPr/>
        </p:nvSpPr>
        <p:spPr>
          <a:xfrm>
            <a:off x="4776788" y="3411662"/>
            <a:ext cx="3738562" cy="9525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3" name="Text 131"/>
          <p:cNvSpPr/>
          <p:nvPr/>
        </p:nvSpPr>
        <p:spPr>
          <a:xfrm>
            <a:off x="4776788" y="3521199"/>
            <a:ext cx="500000" cy="10953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buNone/>
            </a:pPr>
            <a:r>
              <a:rPr lang="en-US" sz="600" b="1" kern="0" spc="12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600" dirty="0"/>
          </a:p>
        </p:txBody>
      </p:sp>
      <p:sp>
        <p:nvSpPr>
          <p:cNvPr id="134" name="Text 132"/>
          <p:cNvSpPr/>
          <p:nvPr/>
        </p:nvSpPr>
        <p:spPr>
          <a:xfrm>
            <a:off x="8012422" y="3487862"/>
            <a:ext cx="541028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96 000 ₽</a:t>
            </a:r>
            <a:endParaRPr lang="en-US" sz="825" dirty="0"/>
          </a:p>
        </p:txBody>
      </p:sp>
      <p:sp>
        <p:nvSpPr>
          <p:cNvPr id="135" name="Shape 133"/>
          <p:cNvSpPr/>
          <p:nvPr/>
        </p:nvSpPr>
        <p:spPr>
          <a:xfrm>
            <a:off x="476250" y="4224338"/>
            <a:ext cx="8191500" cy="576262"/>
          </a:xfrm>
          <a:prstGeom prst="roundRect">
            <a:avLst>
              <a:gd name="adj" fmla="val 14876"/>
            </a:avLst>
          </a:prstGeom>
          <a:solidFill>
            <a:srgbClr val="0B1F3A"/>
          </a:solidFill>
          <a:ln/>
          <a:effectLst>
            <a:outerShdw blurRad="381000" dist="171450" dir="5400000" algn="bl" rotWithShape="0">
              <a:srgbClr val="0B1F3A">
                <a:alpha val="5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628650" y="4394597"/>
            <a:ext cx="1200000" cy="85725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buNone/>
            </a:pPr>
            <a:r>
              <a:rPr lang="en-US" sz="450" b="1" kern="0" spc="72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ИТОГОВАЯ СМЕТА</a:t>
            </a:r>
            <a:endParaRPr lang="en-US" sz="450" dirty="0"/>
          </a:p>
        </p:txBody>
      </p:sp>
      <p:sp>
        <p:nvSpPr>
          <p:cNvPr id="137" name="Text 135"/>
          <p:cNvSpPr/>
          <p:nvPr/>
        </p:nvSpPr>
        <p:spPr>
          <a:xfrm>
            <a:off x="628650" y="4461272"/>
            <a:ext cx="1200000" cy="188119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оплате</a:t>
            </a:r>
            <a:endParaRPr lang="en-US" sz="1125" dirty="0"/>
          </a:p>
        </p:txBody>
      </p:sp>
      <p:sp>
        <p:nvSpPr>
          <p:cNvPr id="138" name="Text 136"/>
          <p:cNvSpPr/>
          <p:nvPr/>
        </p:nvSpPr>
        <p:spPr>
          <a:xfrm>
            <a:off x="6946205" y="4329112"/>
            <a:ext cx="1569145" cy="28575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100" b="1" kern="0" spc="-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1 013 400 </a:t>
            </a:r>
            <a:r>
              <a:rPr lang="en-US" sz="2100" b="1" kern="0" spc="-42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endParaRPr lang="en-US" sz="2100" dirty="0"/>
          </a:p>
        </p:txBody>
      </p:sp>
      <p:sp>
        <p:nvSpPr>
          <p:cNvPr id="139" name="Text 137"/>
          <p:cNvSpPr/>
          <p:nvPr/>
        </p:nvSpPr>
        <p:spPr>
          <a:xfrm>
            <a:off x="6946205" y="4624388"/>
            <a:ext cx="1569145" cy="90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r">
              <a:buNone/>
            </a:pPr>
            <a:r>
              <a:rPr lang="en-US" sz="488" kern="0" spc="2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цены указаны в рублях, с учётом скидок</a:t>
            </a:r>
            <a:endParaRPr lang="en-US" sz="4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Macintosh PowerPoint</Application>
  <PresentationFormat>Произвольный</PresentationFormat>
  <Paragraphs>82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-apple-system</vt:lpstr>
      <vt:lpstr>Arial</vt:lpstr>
      <vt:lpstr>Office Theme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Vladlen Petrov</cp:lastModifiedBy>
  <cp:revision>2</cp:revision>
  <dcterms:created xsi:type="dcterms:W3CDTF">2026-04-22T08:50:18Z</dcterms:created>
  <dcterms:modified xsi:type="dcterms:W3CDTF">2026-04-22T09:39:37Z</dcterms:modified>
</cp:coreProperties>
</file>