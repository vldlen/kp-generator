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8" r:id="rId2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9655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19286"/>
            <a:ext cx="7479700" cy="6598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4800" b="1" kern="0" spc="-48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Детализация </a:t>
            </a:r>
            <a:r>
              <a:rPr lang="en-US" sz="4800" b="1" kern="0" spc="-48" dirty="0">
                <a:solidFill>
                  <a:srgbClr val="FF6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стоимости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5143485" y="685800"/>
            <a:ext cx="2192015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950" b="1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Тимирязев центр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5591755" y="1072455"/>
            <a:ext cx="181994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650" dirty="0">
                <a:solidFill>
                  <a:srgbClr val="6A728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21 апреля 2026 г.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52500" y="1683916"/>
            <a:ext cx="8086725" cy="6555209"/>
          </a:xfrm>
          <a:prstGeom prst="roundRect">
            <a:avLst>
              <a:gd name="adj" fmla="val 2615"/>
            </a:avLst>
          </a:prstGeom>
          <a:solidFill>
            <a:srgbClr val="FFFFFF"/>
          </a:solidFill>
          <a:ln/>
          <a:effectLst>
            <a:outerShdw blurRad="101600" dist="9525" dir="5400000" algn="bl" rotWithShape="0">
              <a:srgbClr val="0B1F3A">
                <a:alpha val="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257300" y="1931566"/>
            <a:ext cx="770143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kern="0" spc="-9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Оборудование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257300" y="2646387"/>
            <a:ext cx="328992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2388766"/>
            <a:ext cx="3236218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b="1" kern="0" spc="78" dirty="0">
                <a:solidFill>
                  <a:srgbClr val="6A728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НАИМЕНОВАНИЕ</a:t>
            </a:r>
            <a:endParaRPr lang="en-US" sz="975" dirty="0"/>
          </a:p>
        </p:txBody>
      </p:sp>
      <p:sp>
        <p:nvSpPr>
          <p:cNvPr id="9" name="Shape 7"/>
          <p:cNvSpPr/>
          <p:nvPr/>
        </p:nvSpPr>
        <p:spPr>
          <a:xfrm>
            <a:off x="4547220" y="2646387"/>
            <a:ext cx="717724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10" name="Text 8"/>
          <p:cNvSpPr/>
          <p:nvPr/>
        </p:nvSpPr>
        <p:spPr>
          <a:xfrm>
            <a:off x="4547220" y="2388766"/>
            <a:ext cx="641524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975" b="1" kern="0" spc="78" dirty="0">
                <a:solidFill>
                  <a:srgbClr val="6A728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КОЛ.</a:t>
            </a:r>
            <a:endParaRPr lang="en-US" sz="975" dirty="0"/>
          </a:p>
        </p:txBody>
      </p:sp>
      <p:sp>
        <p:nvSpPr>
          <p:cNvPr id="11" name="Shape 9"/>
          <p:cNvSpPr/>
          <p:nvPr/>
        </p:nvSpPr>
        <p:spPr>
          <a:xfrm>
            <a:off x="5264944" y="2646387"/>
            <a:ext cx="1185863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12" name="Text 10"/>
          <p:cNvSpPr/>
          <p:nvPr/>
        </p:nvSpPr>
        <p:spPr>
          <a:xfrm>
            <a:off x="5264944" y="2388766"/>
            <a:ext cx="1109662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975" b="1" kern="0" spc="78" dirty="0">
                <a:solidFill>
                  <a:srgbClr val="6A728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ЦЕНА</a:t>
            </a:r>
            <a:endParaRPr lang="en-US" sz="975" dirty="0"/>
          </a:p>
        </p:txBody>
      </p:sp>
      <p:sp>
        <p:nvSpPr>
          <p:cNvPr id="13" name="Shape 11"/>
          <p:cNvSpPr/>
          <p:nvPr/>
        </p:nvSpPr>
        <p:spPr>
          <a:xfrm>
            <a:off x="6450806" y="2646387"/>
            <a:ext cx="91001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14" name="Text 12"/>
          <p:cNvSpPr/>
          <p:nvPr/>
        </p:nvSpPr>
        <p:spPr>
          <a:xfrm>
            <a:off x="6450806" y="2388766"/>
            <a:ext cx="833810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975" b="1" kern="0" spc="78" dirty="0">
                <a:solidFill>
                  <a:srgbClr val="6A728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СКИДКА</a:t>
            </a:r>
            <a:endParaRPr lang="en-US" sz="975" dirty="0"/>
          </a:p>
        </p:txBody>
      </p:sp>
      <p:sp>
        <p:nvSpPr>
          <p:cNvPr id="15" name="Shape 13"/>
          <p:cNvSpPr/>
          <p:nvPr/>
        </p:nvSpPr>
        <p:spPr>
          <a:xfrm>
            <a:off x="7360816" y="2646387"/>
            <a:ext cx="1373609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16" name="Text 14"/>
          <p:cNvSpPr/>
          <p:nvPr/>
        </p:nvSpPr>
        <p:spPr>
          <a:xfrm>
            <a:off x="7360816" y="2388766"/>
            <a:ext cx="1297409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975" b="1" kern="0" spc="78" dirty="0">
                <a:solidFill>
                  <a:srgbClr val="6A728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СУММА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1257300" y="3084016"/>
            <a:ext cx="328992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2760687"/>
            <a:ext cx="3236218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75" b="1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Настольный КСО, 21,5″</a:t>
            </a:r>
            <a:endParaRPr lang="en-US" sz="1275" dirty="0"/>
          </a:p>
        </p:txBody>
      </p:sp>
      <p:sp>
        <p:nvSpPr>
          <p:cNvPr id="19" name="Shape 17"/>
          <p:cNvSpPr/>
          <p:nvPr/>
        </p:nvSpPr>
        <p:spPr>
          <a:xfrm>
            <a:off x="4547220" y="3084016"/>
            <a:ext cx="717724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20" name="Text 18"/>
          <p:cNvSpPr/>
          <p:nvPr/>
        </p:nvSpPr>
        <p:spPr>
          <a:xfrm>
            <a:off x="4547220" y="2760687"/>
            <a:ext cx="641524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63" dirty="0"/>
          </a:p>
        </p:txBody>
      </p:sp>
      <p:sp>
        <p:nvSpPr>
          <p:cNvPr id="21" name="Shape 19"/>
          <p:cNvSpPr/>
          <p:nvPr/>
        </p:nvSpPr>
        <p:spPr>
          <a:xfrm>
            <a:off x="5264944" y="3084016"/>
            <a:ext cx="1185863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22" name="Text 20"/>
          <p:cNvSpPr/>
          <p:nvPr/>
        </p:nvSpPr>
        <p:spPr>
          <a:xfrm>
            <a:off x="5264944" y="2760687"/>
            <a:ext cx="1109662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106 000</a:t>
            </a:r>
            <a:endParaRPr lang="en-US" sz="1163" dirty="0"/>
          </a:p>
        </p:txBody>
      </p:sp>
      <p:sp>
        <p:nvSpPr>
          <p:cNvPr id="23" name="Shape 21"/>
          <p:cNvSpPr/>
          <p:nvPr/>
        </p:nvSpPr>
        <p:spPr>
          <a:xfrm>
            <a:off x="6450806" y="3084016"/>
            <a:ext cx="91001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24" name="Text 22"/>
          <p:cNvSpPr/>
          <p:nvPr/>
        </p:nvSpPr>
        <p:spPr>
          <a:xfrm>
            <a:off x="6450806" y="2760687"/>
            <a:ext cx="833810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b="1" kern="0" spc="-12" dirty="0">
                <a:solidFill>
                  <a:srgbClr val="FF6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-15%</a:t>
            </a:r>
            <a:endParaRPr lang="en-US" sz="1163" dirty="0"/>
          </a:p>
        </p:txBody>
      </p:sp>
      <p:sp>
        <p:nvSpPr>
          <p:cNvPr id="25" name="Shape 23"/>
          <p:cNvSpPr/>
          <p:nvPr/>
        </p:nvSpPr>
        <p:spPr>
          <a:xfrm>
            <a:off x="7360816" y="3084016"/>
            <a:ext cx="1373609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26" name="Text 24"/>
          <p:cNvSpPr/>
          <p:nvPr/>
        </p:nvSpPr>
        <p:spPr>
          <a:xfrm>
            <a:off x="7360816" y="2760687"/>
            <a:ext cx="1297409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b="1" kern="0" spc="-12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450 500</a:t>
            </a:r>
            <a:endParaRPr lang="en-US" sz="1163" dirty="0"/>
          </a:p>
        </p:txBody>
      </p:sp>
      <p:sp>
        <p:nvSpPr>
          <p:cNvPr id="27" name="Shape 25"/>
          <p:cNvSpPr/>
          <p:nvPr/>
        </p:nvSpPr>
        <p:spPr>
          <a:xfrm>
            <a:off x="1257300" y="3521646"/>
            <a:ext cx="328992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28" name="Text 26"/>
          <p:cNvSpPr/>
          <p:nvPr/>
        </p:nvSpPr>
        <p:spPr>
          <a:xfrm>
            <a:off x="1333500" y="3198316"/>
            <a:ext cx="3236218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75" b="1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Настольный кронштейн для КСО</a:t>
            </a:r>
            <a:endParaRPr lang="en-US" sz="1275" dirty="0"/>
          </a:p>
        </p:txBody>
      </p:sp>
      <p:sp>
        <p:nvSpPr>
          <p:cNvPr id="29" name="Shape 27"/>
          <p:cNvSpPr/>
          <p:nvPr/>
        </p:nvSpPr>
        <p:spPr>
          <a:xfrm>
            <a:off x="4547220" y="3521646"/>
            <a:ext cx="717724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30" name="Text 28"/>
          <p:cNvSpPr/>
          <p:nvPr/>
        </p:nvSpPr>
        <p:spPr>
          <a:xfrm>
            <a:off x="4547220" y="3198316"/>
            <a:ext cx="641524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63" dirty="0"/>
          </a:p>
        </p:txBody>
      </p:sp>
      <p:sp>
        <p:nvSpPr>
          <p:cNvPr id="31" name="Shape 29"/>
          <p:cNvSpPr/>
          <p:nvPr/>
        </p:nvSpPr>
        <p:spPr>
          <a:xfrm>
            <a:off x="5264944" y="3521646"/>
            <a:ext cx="1185863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32" name="Text 30"/>
          <p:cNvSpPr/>
          <p:nvPr/>
        </p:nvSpPr>
        <p:spPr>
          <a:xfrm>
            <a:off x="5264944" y="3198316"/>
            <a:ext cx="1109662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15 000</a:t>
            </a:r>
            <a:endParaRPr lang="en-US" sz="1163" dirty="0"/>
          </a:p>
        </p:txBody>
      </p:sp>
      <p:sp>
        <p:nvSpPr>
          <p:cNvPr id="33" name="Shape 31"/>
          <p:cNvSpPr/>
          <p:nvPr/>
        </p:nvSpPr>
        <p:spPr>
          <a:xfrm>
            <a:off x="6450806" y="3521646"/>
            <a:ext cx="91001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34" name="Text 32"/>
          <p:cNvSpPr/>
          <p:nvPr/>
        </p:nvSpPr>
        <p:spPr>
          <a:xfrm>
            <a:off x="6450806" y="3198316"/>
            <a:ext cx="833810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63" dirty="0"/>
          </a:p>
        </p:txBody>
      </p:sp>
      <p:sp>
        <p:nvSpPr>
          <p:cNvPr id="35" name="Shape 33"/>
          <p:cNvSpPr/>
          <p:nvPr/>
        </p:nvSpPr>
        <p:spPr>
          <a:xfrm>
            <a:off x="7360816" y="3521646"/>
            <a:ext cx="1373609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36" name="Text 34"/>
          <p:cNvSpPr/>
          <p:nvPr/>
        </p:nvSpPr>
        <p:spPr>
          <a:xfrm>
            <a:off x="7360816" y="3198316"/>
            <a:ext cx="1297409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b="1" kern="0" spc="-12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75 000</a:t>
            </a:r>
            <a:endParaRPr lang="en-US" sz="1163" dirty="0"/>
          </a:p>
        </p:txBody>
      </p:sp>
      <p:sp>
        <p:nvSpPr>
          <p:cNvPr id="37" name="Shape 35"/>
          <p:cNvSpPr/>
          <p:nvPr/>
        </p:nvSpPr>
        <p:spPr>
          <a:xfrm>
            <a:off x="1257300" y="3959275"/>
            <a:ext cx="328992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38" name="Text 36"/>
          <p:cNvSpPr/>
          <p:nvPr/>
        </p:nvSpPr>
        <p:spPr>
          <a:xfrm>
            <a:off x="1333500" y="3635946"/>
            <a:ext cx="3236218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75" b="1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Адаптер для КСО</a:t>
            </a:r>
            <a:endParaRPr lang="en-US" sz="1275" dirty="0"/>
          </a:p>
        </p:txBody>
      </p:sp>
      <p:sp>
        <p:nvSpPr>
          <p:cNvPr id="39" name="Shape 37"/>
          <p:cNvSpPr/>
          <p:nvPr/>
        </p:nvSpPr>
        <p:spPr>
          <a:xfrm>
            <a:off x="4547220" y="3959275"/>
            <a:ext cx="717724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40" name="Text 38"/>
          <p:cNvSpPr/>
          <p:nvPr/>
        </p:nvSpPr>
        <p:spPr>
          <a:xfrm>
            <a:off x="4547220" y="3635946"/>
            <a:ext cx="641524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63" dirty="0"/>
          </a:p>
        </p:txBody>
      </p:sp>
      <p:sp>
        <p:nvSpPr>
          <p:cNvPr id="41" name="Shape 39"/>
          <p:cNvSpPr/>
          <p:nvPr/>
        </p:nvSpPr>
        <p:spPr>
          <a:xfrm>
            <a:off x="5264944" y="3959275"/>
            <a:ext cx="1185863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42" name="Text 40"/>
          <p:cNvSpPr/>
          <p:nvPr/>
        </p:nvSpPr>
        <p:spPr>
          <a:xfrm>
            <a:off x="5264944" y="3635946"/>
            <a:ext cx="1109662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</a:t>
            </a:r>
            <a:endParaRPr lang="en-US" sz="1163" dirty="0"/>
          </a:p>
        </p:txBody>
      </p:sp>
      <p:sp>
        <p:nvSpPr>
          <p:cNvPr id="43" name="Shape 41"/>
          <p:cNvSpPr/>
          <p:nvPr/>
        </p:nvSpPr>
        <p:spPr>
          <a:xfrm>
            <a:off x="6450806" y="3959275"/>
            <a:ext cx="91001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44" name="Text 42"/>
          <p:cNvSpPr/>
          <p:nvPr/>
        </p:nvSpPr>
        <p:spPr>
          <a:xfrm>
            <a:off x="6450806" y="3635946"/>
            <a:ext cx="833810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63" dirty="0"/>
          </a:p>
        </p:txBody>
      </p:sp>
      <p:sp>
        <p:nvSpPr>
          <p:cNvPr id="45" name="Shape 43"/>
          <p:cNvSpPr/>
          <p:nvPr/>
        </p:nvSpPr>
        <p:spPr>
          <a:xfrm>
            <a:off x="7360816" y="3959275"/>
            <a:ext cx="1373609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46" name="Text 44"/>
          <p:cNvSpPr/>
          <p:nvPr/>
        </p:nvSpPr>
        <p:spPr>
          <a:xfrm>
            <a:off x="7360816" y="3635946"/>
            <a:ext cx="1297409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b="1" kern="0" spc="-12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50 000</a:t>
            </a:r>
            <a:endParaRPr lang="en-US" sz="1163" dirty="0"/>
          </a:p>
        </p:txBody>
      </p:sp>
      <p:sp>
        <p:nvSpPr>
          <p:cNvPr id="47" name="Shape 45"/>
          <p:cNvSpPr/>
          <p:nvPr/>
        </p:nvSpPr>
        <p:spPr>
          <a:xfrm>
            <a:off x="1257300" y="4615458"/>
            <a:ext cx="328992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48" name="Text 46"/>
          <p:cNvSpPr/>
          <p:nvPr/>
        </p:nvSpPr>
        <p:spPr>
          <a:xfrm>
            <a:off x="1333500" y="4073575"/>
            <a:ext cx="3236218" cy="475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75" b="1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Крепление для фискального регистратора</a:t>
            </a:r>
            <a:endParaRPr lang="en-US" sz="1275" dirty="0"/>
          </a:p>
        </p:txBody>
      </p:sp>
      <p:sp>
        <p:nvSpPr>
          <p:cNvPr id="49" name="Shape 47"/>
          <p:cNvSpPr/>
          <p:nvPr/>
        </p:nvSpPr>
        <p:spPr>
          <a:xfrm>
            <a:off x="4547220" y="4615458"/>
            <a:ext cx="717724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50" name="Text 48"/>
          <p:cNvSpPr/>
          <p:nvPr/>
        </p:nvSpPr>
        <p:spPr>
          <a:xfrm>
            <a:off x="4547220" y="4073575"/>
            <a:ext cx="641524" cy="475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63" dirty="0"/>
          </a:p>
        </p:txBody>
      </p:sp>
      <p:sp>
        <p:nvSpPr>
          <p:cNvPr id="51" name="Shape 49"/>
          <p:cNvSpPr/>
          <p:nvPr/>
        </p:nvSpPr>
        <p:spPr>
          <a:xfrm>
            <a:off x="5264944" y="4615458"/>
            <a:ext cx="1185863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52" name="Text 50"/>
          <p:cNvSpPr/>
          <p:nvPr/>
        </p:nvSpPr>
        <p:spPr>
          <a:xfrm>
            <a:off x="5264944" y="4073575"/>
            <a:ext cx="1109662" cy="475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6 900</a:t>
            </a:r>
            <a:endParaRPr lang="en-US" sz="1163" dirty="0"/>
          </a:p>
        </p:txBody>
      </p:sp>
      <p:sp>
        <p:nvSpPr>
          <p:cNvPr id="53" name="Shape 51"/>
          <p:cNvSpPr/>
          <p:nvPr/>
        </p:nvSpPr>
        <p:spPr>
          <a:xfrm>
            <a:off x="6450806" y="4615458"/>
            <a:ext cx="91001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54" name="Text 52"/>
          <p:cNvSpPr/>
          <p:nvPr/>
        </p:nvSpPr>
        <p:spPr>
          <a:xfrm>
            <a:off x="6450806" y="4073575"/>
            <a:ext cx="833810" cy="475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63" dirty="0"/>
          </a:p>
        </p:txBody>
      </p:sp>
      <p:sp>
        <p:nvSpPr>
          <p:cNvPr id="55" name="Shape 53"/>
          <p:cNvSpPr/>
          <p:nvPr/>
        </p:nvSpPr>
        <p:spPr>
          <a:xfrm>
            <a:off x="7360816" y="4615458"/>
            <a:ext cx="1373609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56" name="Text 54"/>
          <p:cNvSpPr/>
          <p:nvPr/>
        </p:nvSpPr>
        <p:spPr>
          <a:xfrm>
            <a:off x="7360816" y="4073575"/>
            <a:ext cx="1297409" cy="475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b="1" kern="0" spc="-12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34 500</a:t>
            </a:r>
            <a:endParaRPr lang="en-US" sz="1163" dirty="0"/>
          </a:p>
        </p:txBody>
      </p:sp>
      <p:sp>
        <p:nvSpPr>
          <p:cNvPr id="57" name="Shape 55"/>
          <p:cNvSpPr/>
          <p:nvPr/>
        </p:nvSpPr>
        <p:spPr>
          <a:xfrm>
            <a:off x="1257300" y="5053087"/>
            <a:ext cx="328992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58" name="Text 56"/>
          <p:cNvSpPr/>
          <p:nvPr/>
        </p:nvSpPr>
        <p:spPr>
          <a:xfrm>
            <a:off x="1333500" y="4729758"/>
            <a:ext cx="3236218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75" b="1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Фискальный регистратор без ФН</a:t>
            </a:r>
            <a:endParaRPr lang="en-US" sz="1275" dirty="0"/>
          </a:p>
        </p:txBody>
      </p:sp>
      <p:sp>
        <p:nvSpPr>
          <p:cNvPr id="59" name="Shape 57"/>
          <p:cNvSpPr/>
          <p:nvPr/>
        </p:nvSpPr>
        <p:spPr>
          <a:xfrm>
            <a:off x="4547220" y="5053087"/>
            <a:ext cx="717724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60" name="Text 58"/>
          <p:cNvSpPr/>
          <p:nvPr/>
        </p:nvSpPr>
        <p:spPr>
          <a:xfrm>
            <a:off x="4547220" y="4729758"/>
            <a:ext cx="641524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63" dirty="0"/>
          </a:p>
        </p:txBody>
      </p:sp>
      <p:sp>
        <p:nvSpPr>
          <p:cNvPr id="61" name="Shape 59"/>
          <p:cNvSpPr/>
          <p:nvPr/>
        </p:nvSpPr>
        <p:spPr>
          <a:xfrm>
            <a:off x="5264944" y="5053087"/>
            <a:ext cx="1185863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62" name="Text 60"/>
          <p:cNvSpPr/>
          <p:nvPr/>
        </p:nvSpPr>
        <p:spPr>
          <a:xfrm>
            <a:off x="5264944" y="4729758"/>
            <a:ext cx="1109662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40 000</a:t>
            </a:r>
            <a:endParaRPr lang="en-US" sz="1163" dirty="0"/>
          </a:p>
        </p:txBody>
      </p:sp>
      <p:sp>
        <p:nvSpPr>
          <p:cNvPr id="63" name="Shape 61"/>
          <p:cNvSpPr/>
          <p:nvPr/>
        </p:nvSpPr>
        <p:spPr>
          <a:xfrm>
            <a:off x="6450806" y="5053087"/>
            <a:ext cx="91001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64" name="Text 62"/>
          <p:cNvSpPr/>
          <p:nvPr/>
        </p:nvSpPr>
        <p:spPr>
          <a:xfrm>
            <a:off x="6450806" y="4729758"/>
            <a:ext cx="833810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b="1" kern="0" spc="-12" dirty="0">
                <a:solidFill>
                  <a:srgbClr val="FF6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-10%</a:t>
            </a:r>
            <a:endParaRPr lang="en-US" sz="1163" dirty="0"/>
          </a:p>
        </p:txBody>
      </p:sp>
      <p:sp>
        <p:nvSpPr>
          <p:cNvPr id="65" name="Shape 63"/>
          <p:cNvSpPr/>
          <p:nvPr/>
        </p:nvSpPr>
        <p:spPr>
          <a:xfrm>
            <a:off x="7360816" y="5053087"/>
            <a:ext cx="1373609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66" name="Text 64"/>
          <p:cNvSpPr/>
          <p:nvPr/>
        </p:nvSpPr>
        <p:spPr>
          <a:xfrm>
            <a:off x="7360816" y="4729758"/>
            <a:ext cx="1297409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b="1" kern="0" spc="-12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180 000</a:t>
            </a:r>
            <a:endParaRPr lang="en-US" sz="1163" dirty="0"/>
          </a:p>
        </p:txBody>
      </p:sp>
      <p:sp>
        <p:nvSpPr>
          <p:cNvPr id="67" name="Shape 65"/>
          <p:cNvSpPr/>
          <p:nvPr/>
        </p:nvSpPr>
        <p:spPr>
          <a:xfrm>
            <a:off x="1257300" y="5490716"/>
            <a:ext cx="328992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68" name="Text 66"/>
          <p:cNvSpPr/>
          <p:nvPr/>
        </p:nvSpPr>
        <p:spPr>
          <a:xfrm>
            <a:off x="1333500" y="5167387"/>
            <a:ext cx="3236218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75" b="1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Мини-ПК, Intel Core i3, 8 ГБ ОЗУ</a:t>
            </a:r>
            <a:endParaRPr lang="en-US" sz="1275" dirty="0"/>
          </a:p>
        </p:txBody>
      </p:sp>
      <p:sp>
        <p:nvSpPr>
          <p:cNvPr id="69" name="Shape 67"/>
          <p:cNvSpPr/>
          <p:nvPr/>
        </p:nvSpPr>
        <p:spPr>
          <a:xfrm>
            <a:off x="4547220" y="5490716"/>
            <a:ext cx="717724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70" name="Text 68"/>
          <p:cNvSpPr/>
          <p:nvPr/>
        </p:nvSpPr>
        <p:spPr>
          <a:xfrm>
            <a:off x="4547220" y="5167387"/>
            <a:ext cx="641524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63" dirty="0"/>
          </a:p>
        </p:txBody>
      </p:sp>
      <p:sp>
        <p:nvSpPr>
          <p:cNvPr id="71" name="Shape 69"/>
          <p:cNvSpPr/>
          <p:nvPr/>
        </p:nvSpPr>
        <p:spPr>
          <a:xfrm>
            <a:off x="5264944" y="5490716"/>
            <a:ext cx="1185863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72" name="Text 70"/>
          <p:cNvSpPr/>
          <p:nvPr/>
        </p:nvSpPr>
        <p:spPr>
          <a:xfrm>
            <a:off x="5264944" y="5167387"/>
            <a:ext cx="1109662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27 000</a:t>
            </a:r>
            <a:endParaRPr lang="en-US" sz="1163" dirty="0"/>
          </a:p>
        </p:txBody>
      </p:sp>
      <p:sp>
        <p:nvSpPr>
          <p:cNvPr id="73" name="Shape 71"/>
          <p:cNvSpPr/>
          <p:nvPr/>
        </p:nvSpPr>
        <p:spPr>
          <a:xfrm>
            <a:off x="6450806" y="5490716"/>
            <a:ext cx="91001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74" name="Text 72"/>
          <p:cNvSpPr/>
          <p:nvPr/>
        </p:nvSpPr>
        <p:spPr>
          <a:xfrm>
            <a:off x="6450806" y="5167387"/>
            <a:ext cx="833810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b="1" kern="0" spc="-12" dirty="0">
                <a:solidFill>
                  <a:srgbClr val="FF6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-20%</a:t>
            </a:r>
            <a:endParaRPr lang="en-US" sz="1163" dirty="0"/>
          </a:p>
        </p:txBody>
      </p:sp>
      <p:sp>
        <p:nvSpPr>
          <p:cNvPr id="75" name="Shape 73"/>
          <p:cNvSpPr/>
          <p:nvPr/>
        </p:nvSpPr>
        <p:spPr>
          <a:xfrm>
            <a:off x="7360816" y="5490716"/>
            <a:ext cx="1373609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76" name="Text 74"/>
          <p:cNvSpPr/>
          <p:nvPr/>
        </p:nvSpPr>
        <p:spPr>
          <a:xfrm>
            <a:off x="7360816" y="5167387"/>
            <a:ext cx="1297409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b="1" kern="0" spc="-12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21 600</a:t>
            </a:r>
            <a:endParaRPr lang="en-US" sz="1163" dirty="0"/>
          </a:p>
        </p:txBody>
      </p:sp>
      <p:sp>
        <p:nvSpPr>
          <p:cNvPr id="77" name="Text 75"/>
          <p:cNvSpPr/>
          <p:nvPr/>
        </p:nvSpPr>
        <p:spPr>
          <a:xfrm>
            <a:off x="1333500" y="5605016"/>
            <a:ext cx="3236218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75" b="1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Smart TV 4K, 55″ + настенный кронштейн</a:t>
            </a:r>
            <a:endParaRPr lang="en-US" sz="1275" dirty="0"/>
          </a:p>
        </p:txBody>
      </p:sp>
      <p:sp>
        <p:nvSpPr>
          <p:cNvPr id="78" name="Text 76"/>
          <p:cNvSpPr/>
          <p:nvPr/>
        </p:nvSpPr>
        <p:spPr>
          <a:xfrm>
            <a:off x="4547220" y="5605016"/>
            <a:ext cx="641524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63" dirty="0"/>
          </a:p>
        </p:txBody>
      </p:sp>
      <p:sp>
        <p:nvSpPr>
          <p:cNvPr id="79" name="Text 77"/>
          <p:cNvSpPr/>
          <p:nvPr/>
        </p:nvSpPr>
        <p:spPr>
          <a:xfrm>
            <a:off x="5264944" y="5605016"/>
            <a:ext cx="1109662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62 000</a:t>
            </a:r>
            <a:endParaRPr lang="en-US" sz="1163" dirty="0"/>
          </a:p>
        </p:txBody>
      </p:sp>
      <p:sp>
        <p:nvSpPr>
          <p:cNvPr id="80" name="Text 78"/>
          <p:cNvSpPr/>
          <p:nvPr/>
        </p:nvSpPr>
        <p:spPr>
          <a:xfrm>
            <a:off x="6450806" y="5605016"/>
            <a:ext cx="833810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b="1" kern="0" spc="-12" dirty="0">
                <a:solidFill>
                  <a:srgbClr val="FF6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-10%</a:t>
            </a:r>
            <a:endParaRPr lang="en-US" sz="1163" dirty="0"/>
          </a:p>
        </p:txBody>
      </p:sp>
      <p:sp>
        <p:nvSpPr>
          <p:cNvPr id="81" name="Text 79"/>
          <p:cNvSpPr/>
          <p:nvPr/>
        </p:nvSpPr>
        <p:spPr>
          <a:xfrm>
            <a:off x="7360816" y="5605016"/>
            <a:ext cx="1297409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b="1" kern="0" spc="-12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55 800</a:t>
            </a:r>
            <a:endParaRPr lang="en-US" sz="1163" dirty="0"/>
          </a:p>
        </p:txBody>
      </p:sp>
      <p:sp>
        <p:nvSpPr>
          <p:cNvPr id="82" name="Shape 80"/>
          <p:cNvSpPr/>
          <p:nvPr/>
        </p:nvSpPr>
        <p:spPr>
          <a:xfrm>
            <a:off x="1257300" y="6285012"/>
            <a:ext cx="7477125" cy="1905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83" name="Text 81"/>
          <p:cNvSpPr/>
          <p:nvPr/>
        </p:nvSpPr>
        <p:spPr>
          <a:xfrm>
            <a:off x="1257300" y="6504087"/>
            <a:ext cx="62522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ИТОГО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7602810" y="6437412"/>
            <a:ext cx="120781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867 400 ₽</a:t>
            </a:r>
            <a:endParaRPr lang="en-US" sz="1650" dirty="0"/>
          </a:p>
        </p:txBody>
      </p:sp>
      <p:sp>
        <p:nvSpPr>
          <p:cNvPr id="85" name="Shape 83"/>
          <p:cNvSpPr/>
          <p:nvPr/>
        </p:nvSpPr>
        <p:spPr>
          <a:xfrm>
            <a:off x="9248775" y="1683916"/>
            <a:ext cx="8086725" cy="2954015"/>
          </a:xfrm>
          <a:prstGeom prst="roundRect">
            <a:avLst>
              <a:gd name="adj" fmla="val 5804"/>
            </a:avLst>
          </a:prstGeom>
          <a:solidFill>
            <a:srgbClr val="FFFFFF"/>
          </a:solidFill>
          <a:ln/>
          <a:effectLst>
            <a:outerShdw blurRad="101600" dist="9525" dir="5400000" algn="bl" rotWithShape="0">
              <a:srgbClr val="0B1F3A">
                <a:alpha val="4000"/>
              </a:srgbClr>
            </a:outerShdw>
          </a:effectLst>
        </p:spPr>
      </p:sp>
      <p:sp>
        <p:nvSpPr>
          <p:cNvPr id="86" name="Text 84"/>
          <p:cNvSpPr/>
          <p:nvPr/>
        </p:nvSpPr>
        <p:spPr>
          <a:xfrm>
            <a:off x="9553575" y="1931566"/>
            <a:ext cx="770143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kern="0" spc="-9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Лицензии и подписки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9553575" y="2646387"/>
            <a:ext cx="328992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88" name="Text 86"/>
          <p:cNvSpPr/>
          <p:nvPr/>
        </p:nvSpPr>
        <p:spPr>
          <a:xfrm>
            <a:off x="9629775" y="2388766"/>
            <a:ext cx="3236218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b="1" kern="0" spc="78" dirty="0">
                <a:solidFill>
                  <a:srgbClr val="6A728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НАИМЕНОВАНИЕ</a:t>
            </a:r>
            <a:endParaRPr lang="en-US" sz="975" dirty="0"/>
          </a:p>
        </p:txBody>
      </p:sp>
      <p:sp>
        <p:nvSpPr>
          <p:cNvPr id="89" name="Shape 87"/>
          <p:cNvSpPr/>
          <p:nvPr/>
        </p:nvSpPr>
        <p:spPr>
          <a:xfrm>
            <a:off x="12843495" y="2646387"/>
            <a:ext cx="718245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90" name="Text 88"/>
          <p:cNvSpPr/>
          <p:nvPr/>
        </p:nvSpPr>
        <p:spPr>
          <a:xfrm>
            <a:off x="12843495" y="2388766"/>
            <a:ext cx="642045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975" b="1" kern="0" spc="78" dirty="0">
                <a:solidFill>
                  <a:srgbClr val="6A728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КОЛ.</a:t>
            </a:r>
            <a:endParaRPr lang="en-US" sz="975" dirty="0"/>
          </a:p>
        </p:txBody>
      </p:sp>
      <p:sp>
        <p:nvSpPr>
          <p:cNvPr id="91" name="Shape 89"/>
          <p:cNvSpPr/>
          <p:nvPr/>
        </p:nvSpPr>
        <p:spPr>
          <a:xfrm>
            <a:off x="13561740" y="2646387"/>
            <a:ext cx="1185193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92" name="Text 90"/>
          <p:cNvSpPr/>
          <p:nvPr/>
        </p:nvSpPr>
        <p:spPr>
          <a:xfrm>
            <a:off x="13561740" y="2388766"/>
            <a:ext cx="1108993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975" b="1" kern="0" spc="78" dirty="0">
                <a:solidFill>
                  <a:srgbClr val="6A728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ЦЕНА</a:t>
            </a:r>
            <a:endParaRPr lang="en-US" sz="975" dirty="0"/>
          </a:p>
        </p:txBody>
      </p:sp>
      <p:sp>
        <p:nvSpPr>
          <p:cNvPr id="93" name="Shape 91"/>
          <p:cNvSpPr/>
          <p:nvPr/>
        </p:nvSpPr>
        <p:spPr>
          <a:xfrm>
            <a:off x="14746932" y="2646387"/>
            <a:ext cx="910382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94" name="Text 92"/>
          <p:cNvSpPr/>
          <p:nvPr/>
        </p:nvSpPr>
        <p:spPr>
          <a:xfrm>
            <a:off x="14746932" y="2388766"/>
            <a:ext cx="834182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975" b="1" kern="0" spc="78" dirty="0">
                <a:solidFill>
                  <a:srgbClr val="6A728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СКИДКА</a:t>
            </a:r>
            <a:endParaRPr lang="en-US" sz="975" dirty="0"/>
          </a:p>
        </p:txBody>
      </p:sp>
      <p:sp>
        <p:nvSpPr>
          <p:cNvPr id="95" name="Shape 93"/>
          <p:cNvSpPr/>
          <p:nvPr/>
        </p:nvSpPr>
        <p:spPr>
          <a:xfrm>
            <a:off x="15657314" y="2646387"/>
            <a:ext cx="1373386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96" name="Text 94"/>
          <p:cNvSpPr/>
          <p:nvPr/>
        </p:nvSpPr>
        <p:spPr>
          <a:xfrm>
            <a:off x="15657314" y="2388766"/>
            <a:ext cx="1297186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975" b="1" kern="0" spc="78" dirty="0">
                <a:solidFill>
                  <a:srgbClr val="6A728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СУММА</a:t>
            </a:r>
            <a:endParaRPr lang="en-US" sz="975" dirty="0"/>
          </a:p>
        </p:txBody>
      </p:sp>
      <p:sp>
        <p:nvSpPr>
          <p:cNvPr id="97" name="Text 95"/>
          <p:cNvSpPr/>
          <p:nvPr/>
        </p:nvSpPr>
        <p:spPr>
          <a:xfrm>
            <a:off x="9629775" y="2760687"/>
            <a:ext cx="3236218" cy="261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75" b="1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inno Kiosk × 5 устр. (1 месяц)</a:t>
            </a:r>
            <a:endParaRPr lang="en-US" sz="1275" dirty="0"/>
          </a:p>
        </p:txBody>
      </p:sp>
      <p:sp>
        <p:nvSpPr>
          <p:cNvPr id="98" name="Text 96"/>
          <p:cNvSpPr/>
          <p:nvPr/>
        </p:nvSpPr>
        <p:spPr>
          <a:xfrm>
            <a:off x="12843495" y="2760687"/>
            <a:ext cx="642045" cy="261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63" dirty="0"/>
          </a:p>
        </p:txBody>
      </p:sp>
      <p:sp>
        <p:nvSpPr>
          <p:cNvPr id="99" name="Text 97"/>
          <p:cNvSpPr/>
          <p:nvPr/>
        </p:nvSpPr>
        <p:spPr>
          <a:xfrm>
            <a:off x="13561740" y="2760687"/>
            <a:ext cx="1108993" cy="261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</a:t>
            </a:r>
            <a:endParaRPr lang="en-US" sz="1163" dirty="0"/>
          </a:p>
        </p:txBody>
      </p:sp>
      <p:sp>
        <p:nvSpPr>
          <p:cNvPr id="100" name="Text 98"/>
          <p:cNvSpPr/>
          <p:nvPr/>
        </p:nvSpPr>
        <p:spPr>
          <a:xfrm>
            <a:off x="14746932" y="2760687"/>
            <a:ext cx="834182" cy="261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63" dirty="0"/>
          </a:p>
        </p:txBody>
      </p:sp>
      <p:sp>
        <p:nvSpPr>
          <p:cNvPr id="101" name="Text 99"/>
          <p:cNvSpPr/>
          <p:nvPr/>
        </p:nvSpPr>
        <p:spPr>
          <a:xfrm>
            <a:off x="15657314" y="2760687"/>
            <a:ext cx="1297186" cy="261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b="1" kern="0" spc="-12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50 000</a:t>
            </a:r>
            <a:endParaRPr lang="en-US" sz="1163" dirty="0"/>
          </a:p>
        </p:txBody>
      </p:sp>
      <p:sp>
        <p:nvSpPr>
          <p:cNvPr id="102" name="Shape 100"/>
          <p:cNvSpPr/>
          <p:nvPr/>
        </p:nvSpPr>
        <p:spPr>
          <a:xfrm>
            <a:off x="9553575" y="3222129"/>
            <a:ext cx="7477125" cy="1905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03" name="Text 101"/>
          <p:cNvSpPr/>
          <p:nvPr/>
        </p:nvSpPr>
        <p:spPr>
          <a:xfrm>
            <a:off x="9553575" y="3441204"/>
            <a:ext cx="62522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ИТОГО</a:t>
            </a:r>
            <a:endParaRPr lang="en-US" sz="1200" dirty="0"/>
          </a:p>
        </p:txBody>
      </p:sp>
      <p:sp>
        <p:nvSpPr>
          <p:cNvPr id="104" name="Text 102"/>
          <p:cNvSpPr/>
          <p:nvPr/>
        </p:nvSpPr>
        <p:spPr>
          <a:xfrm>
            <a:off x="16024845" y="3374529"/>
            <a:ext cx="10820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50 000 ₽</a:t>
            </a:r>
            <a:endParaRPr lang="en-US" sz="1650" dirty="0"/>
          </a:p>
        </p:txBody>
      </p:sp>
      <p:sp>
        <p:nvSpPr>
          <p:cNvPr id="105" name="Shape 103"/>
          <p:cNvSpPr/>
          <p:nvPr/>
        </p:nvSpPr>
        <p:spPr>
          <a:xfrm>
            <a:off x="9248775" y="4847481"/>
            <a:ext cx="8086725" cy="3391644"/>
          </a:xfrm>
          <a:prstGeom prst="roundRect">
            <a:avLst>
              <a:gd name="adj" fmla="val 5055"/>
            </a:avLst>
          </a:prstGeom>
          <a:solidFill>
            <a:srgbClr val="FFFFFF"/>
          </a:solidFill>
          <a:ln/>
          <a:effectLst>
            <a:outerShdw blurRad="101600" dist="9525" dir="5400000" algn="bl" rotWithShape="0">
              <a:srgbClr val="0B1F3A">
                <a:alpha val="4000"/>
              </a:srgbClr>
            </a:outerShdw>
          </a:effectLst>
        </p:spPr>
      </p:sp>
      <p:sp>
        <p:nvSpPr>
          <p:cNvPr id="106" name="Text 104"/>
          <p:cNvSpPr/>
          <p:nvPr/>
        </p:nvSpPr>
        <p:spPr>
          <a:xfrm>
            <a:off x="9553575" y="5095131"/>
            <a:ext cx="770143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kern="0" spc="-9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Услуги</a:t>
            </a:r>
            <a:endParaRPr lang="en-US" sz="1800" dirty="0"/>
          </a:p>
        </p:txBody>
      </p:sp>
      <p:sp>
        <p:nvSpPr>
          <p:cNvPr id="107" name="Shape 105"/>
          <p:cNvSpPr/>
          <p:nvPr/>
        </p:nvSpPr>
        <p:spPr>
          <a:xfrm>
            <a:off x="9553575" y="5809952"/>
            <a:ext cx="328992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108" name="Text 106"/>
          <p:cNvSpPr/>
          <p:nvPr/>
        </p:nvSpPr>
        <p:spPr>
          <a:xfrm>
            <a:off x="9629775" y="5552331"/>
            <a:ext cx="3236218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b="1" kern="0" spc="78" dirty="0">
                <a:solidFill>
                  <a:srgbClr val="6A728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НАИМЕНОВАНИЕ</a:t>
            </a:r>
            <a:endParaRPr lang="en-US" sz="975" dirty="0"/>
          </a:p>
        </p:txBody>
      </p:sp>
      <p:sp>
        <p:nvSpPr>
          <p:cNvPr id="109" name="Shape 107"/>
          <p:cNvSpPr/>
          <p:nvPr/>
        </p:nvSpPr>
        <p:spPr>
          <a:xfrm>
            <a:off x="12843495" y="5809952"/>
            <a:ext cx="718245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110" name="Text 108"/>
          <p:cNvSpPr/>
          <p:nvPr/>
        </p:nvSpPr>
        <p:spPr>
          <a:xfrm>
            <a:off x="12843495" y="5552331"/>
            <a:ext cx="642045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975" b="1" kern="0" spc="78" dirty="0">
                <a:solidFill>
                  <a:srgbClr val="6A728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КОЛ.</a:t>
            </a:r>
            <a:endParaRPr lang="en-US" sz="975" dirty="0"/>
          </a:p>
        </p:txBody>
      </p:sp>
      <p:sp>
        <p:nvSpPr>
          <p:cNvPr id="111" name="Shape 109"/>
          <p:cNvSpPr/>
          <p:nvPr/>
        </p:nvSpPr>
        <p:spPr>
          <a:xfrm>
            <a:off x="13561740" y="5809952"/>
            <a:ext cx="1185193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112" name="Text 110"/>
          <p:cNvSpPr/>
          <p:nvPr/>
        </p:nvSpPr>
        <p:spPr>
          <a:xfrm>
            <a:off x="13561740" y="5552331"/>
            <a:ext cx="1108993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975" b="1" kern="0" spc="78" dirty="0">
                <a:solidFill>
                  <a:srgbClr val="6A728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ЦЕНА</a:t>
            </a:r>
            <a:endParaRPr lang="en-US" sz="975" dirty="0"/>
          </a:p>
        </p:txBody>
      </p:sp>
      <p:sp>
        <p:nvSpPr>
          <p:cNvPr id="113" name="Shape 111"/>
          <p:cNvSpPr/>
          <p:nvPr/>
        </p:nvSpPr>
        <p:spPr>
          <a:xfrm>
            <a:off x="14746932" y="5809952"/>
            <a:ext cx="910382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114" name="Text 112"/>
          <p:cNvSpPr/>
          <p:nvPr/>
        </p:nvSpPr>
        <p:spPr>
          <a:xfrm>
            <a:off x="14746932" y="5552331"/>
            <a:ext cx="834182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975" b="1" kern="0" spc="78" dirty="0">
                <a:solidFill>
                  <a:srgbClr val="6A728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СКИДКА</a:t>
            </a:r>
            <a:endParaRPr lang="en-US" sz="975" dirty="0"/>
          </a:p>
        </p:txBody>
      </p:sp>
      <p:sp>
        <p:nvSpPr>
          <p:cNvPr id="115" name="Shape 113"/>
          <p:cNvSpPr/>
          <p:nvPr/>
        </p:nvSpPr>
        <p:spPr>
          <a:xfrm>
            <a:off x="15657314" y="5809952"/>
            <a:ext cx="1373386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116" name="Text 114"/>
          <p:cNvSpPr/>
          <p:nvPr/>
        </p:nvSpPr>
        <p:spPr>
          <a:xfrm>
            <a:off x="15657314" y="5552331"/>
            <a:ext cx="1297186" cy="200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975" b="1" kern="0" spc="78" dirty="0">
                <a:solidFill>
                  <a:srgbClr val="6A7285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СУММА</a:t>
            </a:r>
            <a:endParaRPr lang="en-US" sz="975" dirty="0"/>
          </a:p>
        </p:txBody>
      </p:sp>
      <p:sp>
        <p:nvSpPr>
          <p:cNvPr id="117" name="Shape 115"/>
          <p:cNvSpPr/>
          <p:nvPr/>
        </p:nvSpPr>
        <p:spPr>
          <a:xfrm>
            <a:off x="9553575" y="6247581"/>
            <a:ext cx="3289920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118" name="Text 116"/>
          <p:cNvSpPr/>
          <p:nvPr/>
        </p:nvSpPr>
        <p:spPr>
          <a:xfrm>
            <a:off x="9629775" y="5924252"/>
            <a:ext cx="3236218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75" b="1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Внедрение и настройка</a:t>
            </a:r>
            <a:endParaRPr lang="en-US" sz="1275" dirty="0"/>
          </a:p>
        </p:txBody>
      </p:sp>
      <p:sp>
        <p:nvSpPr>
          <p:cNvPr id="119" name="Shape 117"/>
          <p:cNvSpPr/>
          <p:nvPr/>
        </p:nvSpPr>
        <p:spPr>
          <a:xfrm>
            <a:off x="12843495" y="6247581"/>
            <a:ext cx="718245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120" name="Text 118"/>
          <p:cNvSpPr/>
          <p:nvPr/>
        </p:nvSpPr>
        <p:spPr>
          <a:xfrm>
            <a:off x="12843495" y="5924252"/>
            <a:ext cx="642045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63" dirty="0"/>
          </a:p>
        </p:txBody>
      </p:sp>
      <p:sp>
        <p:nvSpPr>
          <p:cNvPr id="121" name="Shape 119"/>
          <p:cNvSpPr/>
          <p:nvPr/>
        </p:nvSpPr>
        <p:spPr>
          <a:xfrm>
            <a:off x="13561740" y="6247581"/>
            <a:ext cx="1185193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122" name="Text 120"/>
          <p:cNvSpPr/>
          <p:nvPr/>
        </p:nvSpPr>
        <p:spPr>
          <a:xfrm>
            <a:off x="13561740" y="5924252"/>
            <a:ext cx="1108993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60 000</a:t>
            </a:r>
            <a:endParaRPr lang="en-US" sz="1163" dirty="0"/>
          </a:p>
        </p:txBody>
      </p:sp>
      <p:sp>
        <p:nvSpPr>
          <p:cNvPr id="123" name="Shape 121"/>
          <p:cNvSpPr/>
          <p:nvPr/>
        </p:nvSpPr>
        <p:spPr>
          <a:xfrm>
            <a:off x="14746932" y="6247581"/>
            <a:ext cx="910382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124" name="Text 122"/>
          <p:cNvSpPr/>
          <p:nvPr/>
        </p:nvSpPr>
        <p:spPr>
          <a:xfrm>
            <a:off x="14746932" y="5924252"/>
            <a:ext cx="834182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b="1" kern="0" spc="-12" dirty="0">
                <a:solidFill>
                  <a:srgbClr val="FF6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-20%</a:t>
            </a:r>
            <a:endParaRPr lang="en-US" sz="1163" dirty="0"/>
          </a:p>
        </p:txBody>
      </p:sp>
      <p:sp>
        <p:nvSpPr>
          <p:cNvPr id="125" name="Shape 123"/>
          <p:cNvSpPr/>
          <p:nvPr/>
        </p:nvSpPr>
        <p:spPr>
          <a:xfrm>
            <a:off x="15657314" y="6247581"/>
            <a:ext cx="1373386" cy="9525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126" name="Text 124"/>
          <p:cNvSpPr/>
          <p:nvPr/>
        </p:nvSpPr>
        <p:spPr>
          <a:xfrm>
            <a:off x="15657314" y="5924252"/>
            <a:ext cx="1297186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b="1" kern="0" spc="-12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48 000</a:t>
            </a:r>
            <a:endParaRPr lang="en-US" sz="1163" dirty="0"/>
          </a:p>
        </p:txBody>
      </p:sp>
      <p:sp>
        <p:nvSpPr>
          <p:cNvPr id="127" name="Text 125"/>
          <p:cNvSpPr/>
          <p:nvPr/>
        </p:nvSpPr>
        <p:spPr>
          <a:xfrm>
            <a:off x="9629775" y="6361881"/>
            <a:ext cx="3236218" cy="261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75" b="1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Генерация контента (карточки меню)</a:t>
            </a:r>
            <a:endParaRPr lang="en-US" sz="1275" dirty="0"/>
          </a:p>
        </p:txBody>
      </p:sp>
      <p:sp>
        <p:nvSpPr>
          <p:cNvPr id="128" name="Text 126"/>
          <p:cNvSpPr/>
          <p:nvPr/>
        </p:nvSpPr>
        <p:spPr>
          <a:xfrm>
            <a:off x="12843495" y="6361881"/>
            <a:ext cx="642045" cy="261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163" dirty="0"/>
          </a:p>
        </p:txBody>
      </p:sp>
      <p:sp>
        <p:nvSpPr>
          <p:cNvPr id="129" name="Text 127"/>
          <p:cNvSpPr/>
          <p:nvPr/>
        </p:nvSpPr>
        <p:spPr>
          <a:xfrm>
            <a:off x="13561740" y="6361881"/>
            <a:ext cx="1108993" cy="261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kern="0" spc="-12" dirty="0">
                <a:solidFill>
                  <a:srgbClr val="293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1 200</a:t>
            </a:r>
            <a:endParaRPr lang="en-US" sz="1163" dirty="0"/>
          </a:p>
        </p:txBody>
      </p:sp>
      <p:sp>
        <p:nvSpPr>
          <p:cNvPr id="130" name="Text 128"/>
          <p:cNvSpPr/>
          <p:nvPr/>
        </p:nvSpPr>
        <p:spPr>
          <a:xfrm>
            <a:off x="14746932" y="6361881"/>
            <a:ext cx="834182" cy="261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b="1" kern="0" spc="-12" dirty="0">
                <a:solidFill>
                  <a:srgbClr val="FF6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-20%</a:t>
            </a:r>
            <a:endParaRPr lang="en-US" sz="1163" dirty="0"/>
          </a:p>
        </p:txBody>
      </p:sp>
      <p:sp>
        <p:nvSpPr>
          <p:cNvPr id="131" name="Text 129"/>
          <p:cNvSpPr/>
          <p:nvPr/>
        </p:nvSpPr>
        <p:spPr>
          <a:xfrm>
            <a:off x="15657314" y="6361881"/>
            <a:ext cx="1297186" cy="2614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5000"/>
              </a:lnSpc>
              <a:buNone/>
            </a:pPr>
            <a:r>
              <a:rPr lang="en-US" sz="1163" b="1" kern="0" spc="-12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48 000</a:t>
            </a:r>
            <a:endParaRPr lang="en-US" sz="1163" dirty="0"/>
          </a:p>
        </p:txBody>
      </p:sp>
      <p:sp>
        <p:nvSpPr>
          <p:cNvPr id="132" name="Shape 130"/>
          <p:cNvSpPr/>
          <p:nvPr/>
        </p:nvSpPr>
        <p:spPr>
          <a:xfrm>
            <a:off x="9553575" y="6823323"/>
            <a:ext cx="7477125" cy="1905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33" name="Text 131"/>
          <p:cNvSpPr/>
          <p:nvPr/>
        </p:nvSpPr>
        <p:spPr>
          <a:xfrm>
            <a:off x="9553575" y="7042398"/>
            <a:ext cx="62522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0B1F3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ИТОГО</a:t>
            </a:r>
            <a:endParaRPr lang="en-US" sz="1200" dirty="0"/>
          </a:p>
        </p:txBody>
      </p:sp>
      <p:sp>
        <p:nvSpPr>
          <p:cNvPr id="134" name="Text 132"/>
          <p:cNvSpPr/>
          <p:nvPr/>
        </p:nvSpPr>
        <p:spPr>
          <a:xfrm>
            <a:off x="16024845" y="6975723"/>
            <a:ext cx="10820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96 000 ₽</a:t>
            </a:r>
            <a:endParaRPr lang="en-US" sz="1650" dirty="0"/>
          </a:p>
        </p:txBody>
      </p:sp>
      <p:sp>
        <p:nvSpPr>
          <p:cNvPr id="135" name="Shape 133"/>
          <p:cNvSpPr/>
          <p:nvPr/>
        </p:nvSpPr>
        <p:spPr>
          <a:xfrm>
            <a:off x="952500" y="8448675"/>
            <a:ext cx="16383000" cy="1152525"/>
          </a:xfrm>
          <a:prstGeom prst="roundRect">
            <a:avLst>
              <a:gd name="adj" fmla="val 14876"/>
            </a:avLst>
          </a:prstGeom>
          <a:solidFill>
            <a:srgbClr val="0B1F3A"/>
          </a:solidFill>
          <a:ln/>
          <a:effectLst>
            <a:outerShdw blurRad="381000" dist="171450" dir="5400000" algn="bl" rotWithShape="0">
              <a:srgbClr val="0B1F3A">
                <a:alpha val="50000"/>
              </a:srgbClr>
            </a:outerShdw>
          </a:effectLst>
        </p:spPr>
      </p:sp>
      <p:sp>
        <p:nvSpPr>
          <p:cNvPr id="136" name="Text 134"/>
          <p:cNvSpPr/>
          <p:nvPr/>
        </p:nvSpPr>
        <p:spPr>
          <a:xfrm>
            <a:off x="1257300" y="8789194"/>
            <a:ext cx="1416844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44" dirty="0">
                <a:solidFill>
                  <a:srgbClr val="FFFFFF">
                    <a:alpha val="55000"/>
                  </a:srgbClr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ИТОГОВАЯ СМЕТА</a:t>
            </a:r>
            <a:endParaRPr lang="en-US" sz="900" dirty="0"/>
          </a:p>
        </p:txBody>
      </p:sp>
      <p:sp>
        <p:nvSpPr>
          <p:cNvPr id="137" name="Text 135"/>
          <p:cNvSpPr/>
          <p:nvPr/>
        </p:nvSpPr>
        <p:spPr>
          <a:xfrm>
            <a:off x="1257300" y="8922544"/>
            <a:ext cx="141684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-1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К оплате</a:t>
            </a:r>
            <a:endParaRPr lang="en-US" sz="2250" dirty="0"/>
          </a:p>
        </p:txBody>
      </p:sp>
      <p:sp>
        <p:nvSpPr>
          <p:cNvPr id="138" name="Text 136"/>
          <p:cNvSpPr/>
          <p:nvPr/>
        </p:nvSpPr>
        <p:spPr>
          <a:xfrm>
            <a:off x="13892410" y="8658225"/>
            <a:ext cx="313829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4200" b="1" kern="0" spc="-84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1 013 400 </a:t>
            </a:r>
            <a:r>
              <a:rPr lang="en-US" sz="4200" b="1" kern="0" spc="-84" dirty="0">
                <a:solidFill>
                  <a:srgbClr val="FF6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₽</a:t>
            </a:r>
            <a:endParaRPr lang="en-US" sz="4200" dirty="0"/>
          </a:p>
        </p:txBody>
      </p:sp>
      <p:sp>
        <p:nvSpPr>
          <p:cNvPr id="139" name="Text 137"/>
          <p:cNvSpPr/>
          <p:nvPr/>
        </p:nvSpPr>
        <p:spPr>
          <a:xfrm>
            <a:off x="13892410" y="9248775"/>
            <a:ext cx="313829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975" kern="0" spc="39" dirty="0">
                <a:solidFill>
                  <a:srgbClr val="FFFFFF">
                    <a:alpha val="50000"/>
                  </a:srgbClr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Все цены указаны в рублях, с учётом скидок</a:t>
            </a:r>
            <a:endParaRPr lang="en-US" sz="97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191</Words>
  <Application>Microsoft Macintosh PowerPoint</Application>
  <PresentationFormat>Произвольный</PresentationFormat>
  <Paragraphs>82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-apple-system</vt:lpstr>
      <vt:lpstr>Arial</vt:lpstr>
      <vt:lpstr>Office Theme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Vladlen Petrov</cp:lastModifiedBy>
  <cp:revision>2</cp:revision>
  <dcterms:created xsi:type="dcterms:W3CDTF">2026-04-22T08:50:18Z</dcterms:created>
  <dcterms:modified xsi:type="dcterms:W3CDTF">2026-04-22T09:39:37Z</dcterms:modified>
</cp:coreProperties>
</file>